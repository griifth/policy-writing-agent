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一句话点题：把政策内参报告（国际比较/经验借鉴/趋势研判）的写作做成一套可复用工作流。右侧四块是全系统的四层，后面逐层展开。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先立问题：内参报告写作的四个痛点。再给出解法——不是写一篇稿，而是把写作过程本身做成可复用工作流：三路取材、两引擎可插拔写作、教科院 skill 体外审。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上到下四层。①材料无论来自自有库/公网/复用，都收敛成同一种二段式料包——这是解耦关键；②两台引擎按题材二选一；③文风/分析/战略/落点提示词像插件注入引擎，只管怎么写、不碰写什么；④成稿再过教科院 skill 体外精修。一句话：材料标准化进、提示词可插拔、审核在体外。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这是'为什么一套能跑多种报告'的答案。所有体例共用检索→构思→写作→审查→改写这套模块族，真正区分它们的只有三个旋钮：检索维度、分析深化提示词、文风子型/落点。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两条骨架：根引擎是章节流水线、23 步、专攻国际比较，逐章横比多国；strategic 引擎是判断流水线、16 步、覆盖竞争应对/经验借鉴/趋势研判三体例。按题材选骨架。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这是'人怎么用'的主线，四步、左到右。搜资料和检索问题是一件事的两面：先把研究问题拆成检索维度、再取料；识别体例=选对 report-type；最后一步是教科院 skill 体外精修。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三条来源：自有库 NotebookLM、公网检索+DeepSeek 复审、复用料包。无论从哪来，都收敛成同一份二段式料包，文件名对齐体例的检索维度——来源灵活、出口统一，这就是解耦点。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识别体例就是选对 report-type：国际比较走根引擎；竞争应对/经验借鉴/趋势研判走 strategic 引擎的三个体例。若都不合适，用 distill-report-module 从范文蒸馏出新体例。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runner.py 一条命令启动后，引擎内部自动跑这条流水；每步产物落盘、进度写进 task_state.md，中断能 --continue/--resume 续跑。构思步注入分析深化+战略高度提示词保推理深度与站位，写作步注入文风+教育落点提示词保内参体例与教育域落点。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这四件提示词就是'像人写、像内参'的秘诀：文风管体例、分析深化管深度、战略高度管站位、教育落点管落地。再加引擎内部的自审+改写兜底。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审核优化层是两把刷子：jiaokeyuan-researcher 以教科院研究员范式审改整篇（署名、书面化、收束判断、合体例）；audit-extend-suggestions 对对策建议做防重/补深/找空白。引擎自审在体内，这一层在体外。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完整成品长什么样：约 9100 字的国际政策比较报告，最大亮点是从政策体系整体构成归纳出'专综并进型/总体嵌入型/专项引领型'三种治理类型，配课题组署名、完整内参体例，已经三审汇总修订。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重点页。左右是同一篇文章的修订前 vs 教科院修订版。教科院 skill 主要改了三处：加课题组署名、措辞书面化（收束成'将使中方陷入两难境地'的书面判断）、引述中性化。价值就是把 agent 初稿补成研究员署名的内参。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收束全场：三体例各有成稿（strategic=美国AI人才、experience=体育教师经验、trend=终身教育）。成本是最硬的证据——采用通用智能体+封装好的 agent 工作流，7 月写 3 篇文章全流程仅消耗 1.56 元（仅计工作流费用），成本低到惊人。规模已跑 97 次、文档集齐全、支持 Windows 跨平台移植。下一步：Win 部署上线、扩体例、接更多材料源。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2440" y="1371600"/>
            <a:ext cx="3566160" cy="841248"/>
          </a:xfrm>
          <a:prstGeom prst="roundRect">
            <a:avLst>
              <a:gd name="adj" fmla="val 10870"/>
            </a:avLst>
          </a:prstGeom>
          <a:solidFill>
            <a:srgbClr val="2E4E76"/>
          </a:solidFill>
          <a:ln w="12700">
            <a:solidFill>
              <a:srgbClr val="C8A45C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366760" y="1371600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E6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材料源 · 三路取材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092440" y="2505456"/>
            <a:ext cx="3566160" cy="841248"/>
          </a:xfrm>
          <a:prstGeom prst="roundRect">
            <a:avLst>
              <a:gd name="adj" fmla="val 10870"/>
            </a:avLst>
          </a:prstGeom>
          <a:solidFill>
            <a:srgbClr val="2E4E76"/>
          </a:solidFill>
          <a:ln w="12700">
            <a:solidFill>
              <a:srgbClr val="C8A45C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366760" y="2505456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E6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写作引擎 · 两条骨架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092440" y="3639312"/>
            <a:ext cx="3566160" cy="841248"/>
          </a:xfrm>
          <a:prstGeom prst="roundRect">
            <a:avLst>
              <a:gd name="adj" fmla="val 10870"/>
            </a:avLst>
          </a:prstGeom>
          <a:solidFill>
            <a:srgbClr val="2E4E76"/>
          </a:solidFill>
          <a:ln w="12700">
            <a:solidFill>
              <a:srgbClr val="C8A45C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366760" y="3639312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E6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提示词 · 可插拔注入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092440" y="4773168"/>
            <a:ext cx="3566160" cy="841248"/>
          </a:xfrm>
          <a:prstGeom prst="roundRect">
            <a:avLst>
              <a:gd name="adj" fmla="val 10870"/>
            </a:avLst>
          </a:prstGeom>
          <a:solidFill>
            <a:srgbClr val="2E4E76"/>
          </a:solidFill>
          <a:ln w="12700">
            <a:solidFill>
              <a:srgbClr val="C8A45C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366760" y="4773168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E6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教科院 skill · 审核优化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148840"/>
            <a:ext cx="502920" cy="54864"/>
          </a:xfrm>
          <a:prstGeom prst="rect">
            <a:avLst/>
          </a:prstGeom>
          <a:solidFill>
            <a:srgbClr val="C8A45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28600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政策报告智能写作工作流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22960" y="38862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A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国际比较 · 经验借鉴 · 趋势研判 —— 从选题到成稿的一条流水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45262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C2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三条路取材   </a:t>
            </a:r>
            <a:pPr indent="0" marL="0">
              <a:buNone/>
            </a:pPr>
            <a:r>
              <a:rPr lang="en-US" sz="1250" dirty="0">
                <a:solidFill>
                  <a:srgbClr val="AEC2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 两台引擎 + 可插拔提示词   </a:t>
            </a:r>
            <a:pPr indent="0" marL="0">
              <a:buNone/>
            </a:pPr>
            <a:r>
              <a:rPr lang="en-US" sz="1250" dirty="0">
                <a:solidFill>
                  <a:srgbClr val="AEC2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 教科院 skill 审核优化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5806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A2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汇报人：___________          日期：2026-07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A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为什么做 · WHY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写作耗时又难标准化 —— 把它做成一条工作流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4480560"/>
          </a:xfrm>
          <a:prstGeom prst="roundRect">
            <a:avLst>
              <a:gd name="adj" fmla="val 1837"/>
            </a:avLst>
          </a:prstGeom>
          <a:solidFill>
            <a:srgbClr val="FBEDEA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658368" cy="658368"/>
          </a:xfrm>
          <a:prstGeom prst="ellipse">
            <a:avLst/>
          </a:prstGeom>
          <a:solidFill>
            <a:srgbClr val="B4553E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743" y="2241743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848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3E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24871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E3E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政策内参报告，人工写又慢又难复用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32688" y="2980944"/>
            <a:ext cx="146304" cy="146304"/>
          </a:xfrm>
          <a:prstGeom prst="ellipse">
            <a:avLst/>
          </a:prstGeom>
          <a:solidFill>
            <a:srgbClr val="B4553E"/>
          </a:solidFill>
          <a:ln/>
        </p:spPr>
      </p:sp>
      <p:sp>
        <p:nvSpPr>
          <p:cNvPr id="10" name="Text 7"/>
          <p:cNvSpPr/>
          <p:nvPr/>
        </p:nvSpPr>
        <p:spPr>
          <a:xfrm>
            <a:off x="1234440" y="2880360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7E2E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 AI 直出不达标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55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一般大模型写的文章，体例、深度、站位都难满足内参要求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32688" y="3630168"/>
            <a:ext cx="146304" cy="146304"/>
          </a:xfrm>
          <a:prstGeom prst="ellipse">
            <a:avLst/>
          </a:prstGeom>
          <a:solidFill>
            <a:srgbClr val="B4553E"/>
          </a:solidFill>
          <a:ln/>
        </p:spPr>
      </p:sp>
      <p:sp>
        <p:nvSpPr>
          <p:cNvPr id="12" name="Text 9"/>
          <p:cNvSpPr/>
          <p:nvPr/>
        </p:nvSpPr>
        <p:spPr>
          <a:xfrm>
            <a:off x="1234440" y="3529584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7E2E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写作耗时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55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一篇国际比较内参从取材到成稿，人工要数天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32688" y="4279392"/>
            <a:ext cx="146304" cy="146304"/>
          </a:xfrm>
          <a:prstGeom prst="ellipse">
            <a:avLst/>
          </a:prstGeom>
          <a:solidFill>
            <a:srgbClr val="B4553E"/>
          </a:solidFill>
          <a:ln/>
        </p:spPr>
      </p:sp>
      <p:sp>
        <p:nvSpPr>
          <p:cNvPr id="14" name="Text 11"/>
          <p:cNvSpPr/>
          <p:nvPr/>
        </p:nvSpPr>
        <p:spPr>
          <a:xfrm>
            <a:off x="1234440" y="4178808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7E2E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多国横向比较难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55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要同时铺开多国政策、逐维度对齐，信息量大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32688" y="4928616"/>
            <a:ext cx="146304" cy="146304"/>
          </a:xfrm>
          <a:prstGeom prst="ellipse">
            <a:avLst/>
          </a:prstGeom>
          <a:solidFill>
            <a:srgbClr val="B4553E"/>
          </a:solidFill>
          <a:ln/>
        </p:spPr>
      </p:sp>
      <p:sp>
        <p:nvSpPr>
          <p:cNvPr id="16" name="Text 13"/>
          <p:cNvSpPr/>
          <p:nvPr/>
        </p:nvSpPr>
        <p:spPr>
          <a:xfrm>
            <a:off x="1234440" y="4828032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7E2E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须守"内参体例 + 战略高度"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55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既要书面化措辞，又要全局站位，风格难统一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32688" y="5577840"/>
            <a:ext cx="146304" cy="146304"/>
          </a:xfrm>
          <a:prstGeom prst="ellipse">
            <a:avLst/>
          </a:prstGeom>
          <a:solidFill>
            <a:srgbClr val="B4553E"/>
          </a:solidFill>
          <a:ln/>
        </p:spPr>
      </p:sp>
      <p:sp>
        <p:nvSpPr>
          <p:cNvPr id="18" name="Text 15"/>
          <p:cNvSpPr/>
          <p:nvPr/>
        </p:nvSpPr>
        <p:spPr>
          <a:xfrm>
            <a:off x="1234440" y="5477256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7E2E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难标准化、难复用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55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换个选题几乎从零再来，经验沉不下来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080760" y="1737360"/>
            <a:ext cx="5532120" cy="4480560"/>
          </a:xfrm>
          <a:prstGeom prst="roundRect">
            <a:avLst>
              <a:gd name="adj" fmla="val 1837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446520" y="2057400"/>
            <a:ext cx="658368" cy="658368"/>
          </a:xfrm>
          <a:prstGeom prst="ellipse">
            <a:avLst/>
          </a:prstGeom>
          <a:solidFill>
            <a:srgbClr val="C8A45C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0863" y="2241743"/>
            <a:ext cx="289682" cy="28968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269480" y="20848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7269480" y="24871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A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工作流化：标准化进、可插拔写、体外审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446520" y="3200400"/>
            <a:ext cx="457200" cy="457200"/>
          </a:xfrm>
          <a:prstGeom prst="ellipse">
            <a:avLst/>
          </a:prstGeom>
          <a:solidFill>
            <a:srgbClr val="C8A45C"/>
          </a:solidFill>
          <a:ln/>
        </p:spPr>
      </p:sp>
      <p:sp>
        <p:nvSpPr>
          <p:cNvPr id="25" name="Text 21"/>
          <p:cNvSpPr/>
          <p:nvPr/>
        </p:nvSpPr>
        <p:spPr>
          <a:xfrm>
            <a:off x="64465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7086600" y="3145536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三条路取材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FD0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自有库 / 公网检索 / 复用料包 → 统一料包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6675120" y="3703320"/>
            <a:ext cx="0" cy="384048"/>
          </a:xfrm>
          <a:prstGeom prst="line">
            <a:avLst/>
          </a:prstGeom>
          <a:noFill/>
          <a:ln w="25400">
            <a:solidFill>
              <a:srgbClr val="C8A45C"/>
            </a:solidFill>
            <a:prstDash val="solid"/>
            <a:tailEnd type="triangle"/>
          </a:ln>
        </p:spPr>
      </p:sp>
      <p:sp>
        <p:nvSpPr>
          <p:cNvPr id="28" name="Shape 24"/>
          <p:cNvSpPr/>
          <p:nvPr/>
        </p:nvSpPr>
        <p:spPr>
          <a:xfrm>
            <a:off x="6446520" y="4224528"/>
            <a:ext cx="457200" cy="457200"/>
          </a:xfrm>
          <a:prstGeom prst="ellipse">
            <a:avLst/>
          </a:prstGeom>
          <a:solidFill>
            <a:srgbClr val="C8A45C"/>
          </a:solidFill>
          <a:ln/>
        </p:spPr>
      </p:sp>
      <p:sp>
        <p:nvSpPr>
          <p:cNvPr id="29" name="Text 25"/>
          <p:cNvSpPr/>
          <p:nvPr/>
        </p:nvSpPr>
        <p:spPr>
          <a:xfrm>
            <a:off x="644652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30" name="Text 26"/>
          <p:cNvSpPr/>
          <p:nvPr/>
        </p:nvSpPr>
        <p:spPr>
          <a:xfrm>
            <a:off x="7086600" y="4169664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两引擎 + 可插拔提示词写作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FD0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按题材选骨架，文风·分析·战略·落点像插件注入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6675120" y="4727448"/>
            <a:ext cx="0" cy="384048"/>
          </a:xfrm>
          <a:prstGeom prst="line">
            <a:avLst/>
          </a:prstGeom>
          <a:noFill/>
          <a:ln w="25400">
            <a:solidFill>
              <a:srgbClr val="C8A45C"/>
            </a:solidFill>
            <a:prstDash val="solid"/>
            <a:tailEnd type="triangle"/>
          </a:ln>
        </p:spPr>
      </p:sp>
      <p:sp>
        <p:nvSpPr>
          <p:cNvPr id="32" name="Shape 28"/>
          <p:cNvSpPr/>
          <p:nvPr/>
        </p:nvSpPr>
        <p:spPr>
          <a:xfrm>
            <a:off x="6446520" y="5248656"/>
            <a:ext cx="457200" cy="457200"/>
          </a:xfrm>
          <a:prstGeom prst="ellipse">
            <a:avLst/>
          </a:prstGeom>
          <a:solidFill>
            <a:srgbClr val="C8A45C"/>
          </a:solidFill>
          <a:ln/>
        </p:spPr>
      </p:sp>
      <p:sp>
        <p:nvSpPr>
          <p:cNvPr id="33" name="Text 29"/>
          <p:cNvSpPr/>
          <p:nvPr/>
        </p:nvSpPr>
        <p:spPr>
          <a:xfrm>
            <a:off x="6446520" y="5248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34" name="Text 30"/>
          <p:cNvSpPr/>
          <p:nvPr/>
        </p:nvSpPr>
        <p:spPr>
          <a:xfrm>
            <a:off x="7086600" y="5193792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教科院 skill 审核优化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FD0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体外做人味精修，收束判断、合内参体例</a:t>
            </a:r>
            <a:endParaRPr lang="en-US" sz="1400" dirty="0"/>
          </a:p>
        </p:txBody>
      </p:sp>
      <p:sp>
        <p:nvSpPr>
          <p:cNvPr id="35" name="Text 31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政策报告智能写作工作流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A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架构总览 · 图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四层架构：材料标准化进 · 提示词可插拔 · 审核在体外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91672" cy="1170432"/>
          </a:xfrm>
          <a:prstGeom prst="roundRect">
            <a:avLst>
              <a:gd name="adj" fmla="val 4688"/>
            </a:avLst>
          </a:prstGeom>
          <a:solidFill>
            <a:srgbClr val="EAF0F6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664208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664208"/>
            <a:ext cx="1929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材料源层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BD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三条路殊途同归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907792"/>
            <a:ext cx="11091672" cy="1024128"/>
          </a:xfrm>
          <a:prstGeom prst="roundRect">
            <a:avLst>
              <a:gd name="adj" fmla="val 5357"/>
            </a:avLst>
          </a:prstGeom>
          <a:solidFill>
            <a:srgbClr val="EAF0F6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3035808"/>
            <a:ext cx="2148840" cy="768096"/>
          </a:xfrm>
          <a:prstGeom prst="roundRect">
            <a:avLst>
              <a:gd name="adj" fmla="val 7143"/>
            </a:avLst>
          </a:prstGeom>
          <a:solidFill>
            <a:srgbClr val="1F3A5F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68096" y="3035808"/>
            <a:ext cx="19293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写作引擎层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BD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两条骨架二选一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7F0E2"/>
          </a:solidFill>
          <a:ln w="12700">
            <a:solidFill>
              <a:srgbClr val="C8A4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4288536"/>
            <a:ext cx="2148840" cy="585216"/>
          </a:xfrm>
          <a:prstGeom prst="roundRect">
            <a:avLst>
              <a:gd name="adj" fmla="val 9375"/>
            </a:avLst>
          </a:prstGeom>
          <a:solidFill>
            <a:srgbClr val="A9863D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68096" y="4288536"/>
            <a:ext cx="1929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注入提示词层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3E5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只控风格/判断/落点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230368"/>
            <a:ext cx="11091672" cy="1078992"/>
          </a:xfrm>
          <a:prstGeom prst="roundRect">
            <a:avLst>
              <a:gd name="adj" fmla="val 5085"/>
            </a:avLst>
          </a:prstGeom>
          <a:solidFill>
            <a:srgbClr val="EAF0F6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5358384"/>
            <a:ext cx="2148840" cy="822960"/>
          </a:xfrm>
          <a:prstGeom prst="roundRect">
            <a:avLst>
              <a:gd name="adj" fmla="val 6667"/>
            </a:avLst>
          </a:prstGeom>
          <a:solidFill>
            <a:srgbClr val="1F3A5F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68096" y="5358384"/>
            <a:ext cx="1929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审核优化层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BD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教科院 skill 体外精修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017520" y="1682496"/>
            <a:ext cx="2630424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82112" y="1828800"/>
            <a:ext cx="457200" cy="457200"/>
          </a:xfrm>
          <a:prstGeom prst="ellipse">
            <a:avLst/>
          </a:prstGeom>
          <a:solidFill>
            <a:srgbClr val="5B7CA3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0128" y="1956816"/>
            <a:ext cx="201168" cy="20116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730752" y="1719072"/>
            <a:ext cx="18074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NotebookLM
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自有知识库 · 现查现铺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922264" y="1682496"/>
            <a:ext cx="2630424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086856" y="1828800"/>
            <a:ext cx="457200" cy="457200"/>
          </a:xfrm>
          <a:prstGeom prst="ellipse">
            <a:avLst/>
          </a:prstGeom>
          <a:solidFill>
            <a:srgbClr val="5B7CA3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872" y="1956816"/>
            <a:ext cx="201168" cy="20116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635496" y="1719072"/>
            <a:ext cx="18074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topic-material-search
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公网检索 + DeepSeek 复审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8827008" y="1682496"/>
            <a:ext cx="2630424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8991600" y="1828800"/>
            <a:ext cx="457200" cy="457200"/>
          </a:xfrm>
          <a:prstGeom prst="ellipse">
            <a:avLst/>
          </a:prstGeom>
          <a:solidFill>
            <a:srgbClr val="5B7CA3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9616" y="1956816"/>
            <a:ext cx="201168" cy="20116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540240" y="1719072"/>
            <a:ext cx="18074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复用料包
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--reuse-materials-run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4402836" y="2706624"/>
            <a:ext cx="5669280" cy="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29" name="Text 24"/>
          <p:cNvSpPr/>
          <p:nvPr/>
        </p:nvSpPr>
        <p:spPr>
          <a:xfrm>
            <a:off x="3017520" y="2706624"/>
            <a:ext cx="8439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A98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  统一料包  retrieval_outputs/*.md（二段式：检索内容 / 相关文献）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3017520" y="3035808"/>
            <a:ext cx="4082796" cy="768096"/>
          </a:xfrm>
          <a:prstGeom prst="roundRect">
            <a:avLst>
              <a:gd name="adj" fmla="val 8333"/>
            </a:avLst>
          </a:prstGeom>
          <a:solidFill>
            <a:srgbClr val="EDF6EE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3163824" y="3163824"/>
            <a:ext cx="457200" cy="457200"/>
          </a:xfrm>
          <a:prstGeom prst="ellipse">
            <a:avLst/>
          </a:prstGeom>
          <a:solidFill>
            <a:srgbClr val="3F7D52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3291840"/>
            <a:ext cx="201168" cy="20116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3712464" y="3054096"/>
            <a:ext cx="32598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756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根引擎 workflow
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C6B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章节流水线 · 23 步 · 国际比较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7374636" y="3035808"/>
            <a:ext cx="4082796" cy="768096"/>
          </a:xfrm>
          <a:prstGeom prst="roundRect">
            <a:avLst>
              <a:gd name="adj" fmla="val 8333"/>
            </a:avLst>
          </a:prstGeom>
          <a:solidFill>
            <a:srgbClr val="EDF6EE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7520940" y="3163824"/>
            <a:ext cx="457200" cy="457200"/>
          </a:xfrm>
          <a:prstGeom prst="ellipse">
            <a:avLst/>
          </a:prstGeom>
          <a:solidFill>
            <a:srgbClr val="3F7D52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8956" y="3291840"/>
            <a:ext cx="201168" cy="20116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8069580" y="3054096"/>
            <a:ext cx="32598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756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strategic 引擎
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C6B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判断流水线 · 16 步 · 3 体例</a:t>
            </a:r>
            <a:endParaRPr lang="en-US" sz="1300" dirty="0"/>
          </a:p>
        </p:txBody>
      </p:sp>
      <p:sp>
        <p:nvSpPr>
          <p:cNvPr id="38" name="Shape 31"/>
          <p:cNvSpPr/>
          <p:nvPr/>
        </p:nvSpPr>
        <p:spPr>
          <a:xfrm>
            <a:off x="3017520" y="4306824"/>
            <a:ext cx="1904238" cy="548640"/>
          </a:xfrm>
          <a:prstGeom prst="roundRect">
            <a:avLst>
              <a:gd name="adj" fmla="val 16667"/>
            </a:avLst>
          </a:prstGeom>
          <a:solidFill>
            <a:srgbClr val="C8A45C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sp>
        <p:nvSpPr>
          <p:cNvPr id="39" name="Text 32"/>
          <p:cNvSpPr/>
          <p:nvPr/>
        </p:nvSpPr>
        <p:spPr>
          <a:xfrm>
            <a:off x="3017520" y="4306824"/>
            <a:ext cx="19042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文风提示词</a:t>
            </a:r>
            <a:endParaRPr lang="en-US" sz="1150" dirty="0"/>
          </a:p>
        </p:txBody>
      </p:sp>
      <p:sp>
        <p:nvSpPr>
          <p:cNvPr id="40" name="Shape 33"/>
          <p:cNvSpPr/>
          <p:nvPr/>
        </p:nvSpPr>
        <p:spPr>
          <a:xfrm>
            <a:off x="5196078" y="4306824"/>
            <a:ext cx="1904238" cy="548640"/>
          </a:xfrm>
          <a:prstGeom prst="roundRect">
            <a:avLst>
              <a:gd name="adj" fmla="val 16667"/>
            </a:avLst>
          </a:prstGeom>
          <a:solidFill>
            <a:srgbClr val="C8A45C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sp>
        <p:nvSpPr>
          <p:cNvPr id="41" name="Text 34"/>
          <p:cNvSpPr/>
          <p:nvPr/>
        </p:nvSpPr>
        <p:spPr>
          <a:xfrm>
            <a:off x="5196078" y="4306824"/>
            <a:ext cx="19042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分析深化提示词</a:t>
            </a:r>
            <a:endParaRPr lang="en-US" sz="1150" dirty="0"/>
          </a:p>
        </p:txBody>
      </p:sp>
      <p:sp>
        <p:nvSpPr>
          <p:cNvPr id="42" name="Shape 35"/>
          <p:cNvSpPr/>
          <p:nvPr/>
        </p:nvSpPr>
        <p:spPr>
          <a:xfrm>
            <a:off x="7374636" y="4306824"/>
            <a:ext cx="1904238" cy="548640"/>
          </a:xfrm>
          <a:prstGeom prst="roundRect">
            <a:avLst>
              <a:gd name="adj" fmla="val 16667"/>
            </a:avLst>
          </a:prstGeom>
          <a:solidFill>
            <a:srgbClr val="C8A45C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sp>
        <p:nvSpPr>
          <p:cNvPr id="43" name="Text 36"/>
          <p:cNvSpPr/>
          <p:nvPr/>
        </p:nvSpPr>
        <p:spPr>
          <a:xfrm>
            <a:off x="7374636" y="4306824"/>
            <a:ext cx="19042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战略高度提示词</a:t>
            </a:r>
            <a:endParaRPr lang="en-US" sz="1150" dirty="0"/>
          </a:p>
        </p:txBody>
      </p:sp>
      <p:sp>
        <p:nvSpPr>
          <p:cNvPr id="44" name="Shape 37"/>
          <p:cNvSpPr/>
          <p:nvPr/>
        </p:nvSpPr>
        <p:spPr>
          <a:xfrm>
            <a:off x="9553194" y="4306824"/>
            <a:ext cx="1904238" cy="548640"/>
          </a:xfrm>
          <a:prstGeom prst="roundRect">
            <a:avLst>
              <a:gd name="adj" fmla="val 16667"/>
            </a:avLst>
          </a:prstGeom>
          <a:solidFill>
            <a:srgbClr val="C8A45C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sp>
        <p:nvSpPr>
          <p:cNvPr id="45" name="Text 38"/>
          <p:cNvSpPr/>
          <p:nvPr/>
        </p:nvSpPr>
        <p:spPr>
          <a:xfrm>
            <a:off x="9553194" y="4306824"/>
            <a:ext cx="19042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教育落点提示词</a:t>
            </a:r>
            <a:endParaRPr lang="en-US" sz="1150" dirty="0"/>
          </a:p>
        </p:txBody>
      </p:sp>
      <p:sp>
        <p:nvSpPr>
          <p:cNvPr id="46" name="Shape 39"/>
          <p:cNvSpPr/>
          <p:nvPr/>
        </p:nvSpPr>
        <p:spPr>
          <a:xfrm>
            <a:off x="3017520" y="5376672"/>
            <a:ext cx="4082796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47" name="Shape 40"/>
          <p:cNvSpPr/>
          <p:nvPr/>
        </p:nvSpPr>
        <p:spPr>
          <a:xfrm>
            <a:off x="3163824" y="5522976"/>
            <a:ext cx="457200" cy="457200"/>
          </a:xfrm>
          <a:prstGeom prst="ellipse">
            <a:avLst/>
          </a:prstGeom>
          <a:solidFill>
            <a:srgbClr val="1F3A5F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5650992"/>
            <a:ext cx="201168" cy="201168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3712464" y="5413248"/>
            <a:ext cx="32598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jiaokeyuan-researcher
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审改整篇 · 合内参体例</a:t>
            </a:r>
            <a:endParaRPr lang="en-US" sz="1250" dirty="0"/>
          </a:p>
        </p:txBody>
      </p:sp>
      <p:sp>
        <p:nvSpPr>
          <p:cNvPr id="50" name="Shape 42"/>
          <p:cNvSpPr/>
          <p:nvPr/>
        </p:nvSpPr>
        <p:spPr>
          <a:xfrm>
            <a:off x="7374636" y="5376672"/>
            <a:ext cx="4082796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51" name="Shape 43"/>
          <p:cNvSpPr/>
          <p:nvPr/>
        </p:nvSpPr>
        <p:spPr>
          <a:xfrm>
            <a:off x="7520940" y="5522976"/>
            <a:ext cx="457200" cy="457200"/>
          </a:xfrm>
          <a:prstGeom prst="ellipse">
            <a:avLst/>
          </a:prstGeom>
          <a:solidFill>
            <a:srgbClr val="1F3A5F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8956" y="5650992"/>
            <a:ext cx="201168" cy="201168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8069580" y="5413248"/>
            <a:ext cx="32598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audit-extend-suggestions
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建议防重 / 补深 / 找空白</a:t>
            </a:r>
            <a:endParaRPr lang="en-US" sz="1250" dirty="0"/>
          </a:p>
        </p:txBody>
      </p:sp>
      <p:sp>
        <p:nvSpPr>
          <p:cNvPr id="54" name="Shape 45"/>
          <p:cNvSpPr/>
          <p:nvPr/>
        </p:nvSpPr>
        <p:spPr>
          <a:xfrm>
            <a:off x="1732788" y="2724912"/>
            <a:ext cx="0" cy="146304"/>
          </a:xfrm>
          <a:prstGeom prst="line">
            <a:avLst/>
          </a:prstGeom>
          <a:noFill/>
          <a:ln w="31750">
            <a:solidFill>
              <a:srgbClr val="5B7CA3"/>
            </a:solidFill>
            <a:prstDash val="solid"/>
            <a:tailEnd type="triangle"/>
          </a:ln>
        </p:spPr>
      </p:sp>
      <p:sp>
        <p:nvSpPr>
          <p:cNvPr id="55" name="Shape 46"/>
          <p:cNvSpPr/>
          <p:nvPr/>
        </p:nvSpPr>
        <p:spPr>
          <a:xfrm>
            <a:off x="1732788" y="3950208"/>
            <a:ext cx="0" cy="1243584"/>
          </a:xfrm>
          <a:prstGeom prst="line">
            <a:avLst/>
          </a:prstGeom>
          <a:noFill/>
          <a:ln w="31750">
            <a:solidFill>
              <a:srgbClr val="5B7CA3"/>
            </a:solidFill>
            <a:prstDash val="solid"/>
            <a:tailEnd type="triangle"/>
          </a:ln>
        </p:spPr>
      </p:sp>
      <p:sp>
        <p:nvSpPr>
          <p:cNvPr id="56" name="Shape 47"/>
          <p:cNvSpPr/>
          <p:nvPr/>
        </p:nvSpPr>
        <p:spPr>
          <a:xfrm>
            <a:off x="10177272" y="4251960"/>
            <a:ext cx="0" cy="-338328"/>
          </a:xfrm>
          <a:prstGeom prst="line">
            <a:avLst/>
          </a:prstGeom>
          <a:noFill/>
          <a:ln w="25400">
            <a:solidFill>
              <a:srgbClr val="C8A45C"/>
            </a:solidFill>
            <a:prstDash val="dash"/>
            <a:tailEnd type="triangle"/>
          </a:ln>
        </p:spPr>
      </p:sp>
      <p:sp>
        <p:nvSpPr>
          <p:cNvPr id="57" name="Text 48"/>
          <p:cNvSpPr/>
          <p:nvPr/>
        </p:nvSpPr>
        <p:spPr>
          <a:xfrm>
            <a:off x="9582912" y="38679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A98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</a:t>
            </a:r>
            <a:endParaRPr lang="en-US" sz="900" dirty="0"/>
          </a:p>
        </p:txBody>
      </p:sp>
      <p:sp>
        <p:nvSpPr>
          <p:cNvPr id="58" name="Text 49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59" name="Text 5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政策报告智能写作工作流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A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核心抽象 · 图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一套模块族 × 三个旋钮 —— 排列组合出多个体例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60320"/>
            <a:ext cx="7854696" cy="2057400"/>
          </a:xfrm>
          <a:prstGeom prst="roundRect">
            <a:avLst>
              <a:gd name="adj" fmla="val 3556"/>
            </a:avLst>
          </a:prstGeom>
          <a:solidFill>
            <a:srgbClr val="EAF0F6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651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一套模块族（所有体例共用）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3108960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38428" y="3255264"/>
            <a:ext cx="512064" cy="512064"/>
          </a:xfrm>
          <a:prstGeom prst="ellipse">
            <a:avLst/>
          </a:prstGeom>
          <a:solidFill>
            <a:srgbClr val="1F3A5F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1806" y="3398642"/>
            <a:ext cx="225308" cy="2253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76732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2048256" y="3634740"/>
            <a:ext cx="233172" cy="0"/>
          </a:xfrm>
          <a:prstGeom prst="line">
            <a:avLst/>
          </a:prstGeom>
          <a:noFill/>
          <a:ln w="31750">
            <a:solidFill>
              <a:srgbClr val="5B7CA3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318004" y="3108960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79192" y="3255264"/>
            <a:ext cx="512064" cy="512064"/>
          </a:xfrm>
          <a:prstGeom prst="ellipse">
            <a:avLst/>
          </a:prstGeom>
          <a:solidFill>
            <a:srgbClr val="1F3A5F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570" y="3398642"/>
            <a:ext cx="225308" cy="2253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318004" y="376732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构思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3589020" y="3634740"/>
            <a:ext cx="233172" cy="0"/>
          </a:xfrm>
          <a:prstGeom prst="line">
            <a:avLst/>
          </a:prstGeom>
          <a:noFill/>
          <a:ln w="31750">
            <a:solidFill>
              <a:srgbClr val="5B7CA3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3858768" y="3108960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219956" y="3255264"/>
            <a:ext cx="512064" cy="512064"/>
          </a:xfrm>
          <a:prstGeom prst="ellipse">
            <a:avLst/>
          </a:prstGeom>
          <a:solidFill>
            <a:srgbClr val="1F3A5F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3334" y="3398642"/>
            <a:ext cx="225308" cy="2253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58768" y="376732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5129784" y="3634740"/>
            <a:ext cx="233172" cy="0"/>
          </a:xfrm>
          <a:prstGeom prst="line">
            <a:avLst/>
          </a:prstGeom>
          <a:noFill/>
          <a:ln w="31750">
            <a:solidFill>
              <a:srgbClr val="5B7CA3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5399532" y="3108960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760720" y="3255264"/>
            <a:ext cx="512064" cy="512064"/>
          </a:xfrm>
          <a:prstGeom prst="ellipse">
            <a:avLst/>
          </a:prstGeom>
          <a:solidFill>
            <a:srgbClr val="1F3A5F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4098" y="3398642"/>
            <a:ext cx="225308" cy="2253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99532" y="376732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审查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6670548" y="3634740"/>
            <a:ext cx="233172" cy="0"/>
          </a:xfrm>
          <a:prstGeom prst="line">
            <a:avLst/>
          </a:prstGeom>
          <a:noFill/>
          <a:ln w="31750">
            <a:solidFill>
              <a:srgbClr val="5B7CA3"/>
            </a:solidFill>
            <a:prstDash val="solid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6940296" y="3108960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301484" y="3255264"/>
            <a:ext cx="512064" cy="512064"/>
          </a:xfrm>
          <a:prstGeom prst="ellipse">
            <a:avLst/>
          </a:prstGeom>
          <a:solidFill>
            <a:srgbClr val="1F3A5F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4862" y="3398642"/>
            <a:ext cx="225308" cy="2253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940296" y="376732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改写</a:t>
            </a:r>
            <a:endParaRPr lang="en-US" sz="1350" dirty="0"/>
          </a:p>
        </p:txBody>
      </p:sp>
      <p:sp>
        <p:nvSpPr>
          <p:cNvPr id="30" name="Shape 23"/>
          <p:cNvSpPr/>
          <p:nvPr/>
        </p:nvSpPr>
        <p:spPr>
          <a:xfrm>
            <a:off x="777240" y="1572768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142838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1764792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380744" y="1572768"/>
            <a:ext cx="14721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8A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旋钮 1  </a:t>
            </a:r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检索维度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1851660" y="2340864"/>
            <a:ext cx="0" cy="201168"/>
          </a:xfrm>
          <a:prstGeom prst="line">
            <a:avLst/>
          </a:prstGeom>
          <a:noFill/>
          <a:ln w="22225">
            <a:solidFill>
              <a:srgbClr val="C8A45C"/>
            </a:solidFill>
            <a:prstDash val="dash"/>
            <a:tailEnd type="triangle"/>
          </a:ln>
        </p:spPr>
      </p:sp>
      <p:sp>
        <p:nvSpPr>
          <p:cNvPr id="34" name="Shape 26"/>
          <p:cNvSpPr/>
          <p:nvPr/>
        </p:nvSpPr>
        <p:spPr>
          <a:xfrm>
            <a:off x="3310128" y="1572768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142838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1764792"/>
            <a:ext cx="365760" cy="36576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3913632" y="1572768"/>
            <a:ext cx="14721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8A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旋钮 2  </a:t>
            </a:r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分析深化提示词</a:t>
            </a:r>
            <a:endParaRPr lang="en-US" sz="1200" dirty="0"/>
          </a:p>
        </p:txBody>
      </p:sp>
      <p:sp>
        <p:nvSpPr>
          <p:cNvPr id="37" name="Shape 28"/>
          <p:cNvSpPr/>
          <p:nvPr/>
        </p:nvSpPr>
        <p:spPr>
          <a:xfrm>
            <a:off x="4384548" y="2340864"/>
            <a:ext cx="0" cy="201168"/>
          </a:xfrm>
          <a:prstGeom prst="line">
            <a:avLst/>
          </a:prstGeom>
          <a:noFill/>
          <a:ln w="22225">
            <a:solidFill>
              <a:srgbClr val="C8A45C"/>
            </a:solidFill>
            <a:prstDash val="dash"/>
            <a:tailEnd type="triangle"/>
          </a:ln>
        </p:spPr>
      </p:sp>
      <p:sp>
        <p:nvSpPr>
          <p:cNvPr id="38" name="Shape 29"/>
          <p:cNvSpPr/>
          <p:nvPr/>
        </p:nvSpPr>
        <p:spPr>
          <a:xfrm>
            <a:off x="5843016" y="1572768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142838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7608" y="1764792"/>
            <a:ext cx="365760" cy="36576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6446520" y="1572768"/>
            <a:ext cx="14721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8A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旋钮 3  </a:t>
            </a:r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文风子型 / 落点</a:t>
            </a:r>
            <a:endParaRPr lang="en-US" sz="1200" dirty="0"/>
          </a:p>
        </p:txBody>
      </p:sp>
      <p:sp>
        <p:nvSpPr>
          <p:cNvPr id="41" name="Shape 31"/>
          <p:cNvSpPr/>
          <p:nvPr/>
        </p:nvSpPr>
        <p:spPr>
          <a:xfrm>
            <a:off x="6917436" y="2340864"/>
            <a:ext cx="0" cy="201168"/>
          </a:xfrm>
          <a:prstGeom prst="line">
            <a:avLst/>
          </a:prstGeom>
          <a:noFill/>
          <a:ln w="22225">
            <a:solidFill>
              <a:srgbClr val="C8A45C"/>
            </a:solidFill>
            <a:prstDash val="dash"/>
            <a:tailEnd type="triangle"/>
          </a:ln>
        </p:spPr>
      </p:sp>
      <p:sp>
        <p:nvSpPr>
          <p:cNvPr id="42" name="Text 32"/>
          <p:cNvSpPr/>
          <p:nvPr/>
        </p:nvSpPr>
        <p:spPr>
          <a:xfrm>
            <a:off x="8732520" y="20116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多个体例</a:t>
            </a:r>
            <a:endParaRPr lang="en-US" sz="1200" dirty="0"/>
          </a:p>
        </p:txBody>
      </p:sp>
      <p:sp>
        <p:nvSpPr>
          <p:cNvPr id="43" name="Shape 33"/>
          <p:cNvSpPr/>
          <p:nvPr/>
        </p:nvSpPr>
        <p:spPr>
          <a:xfrm>
            <a:off x="8732520" y="2487168"/>
            <a:ext cx="2971800" cy="786384"/>
          </a:xfrm>
          <a:prstGeom prst="roundRect">
            <a:avLst>
              <a:gd name="adj" fmla="val 10465"/>
            </a:avLst>
          </a:prstGeom>
          <a:solidFill>
            <a:srgbClr val="F7F0E2"/>
          </a:solidFill>
          <a:ln w="12700">
            <a:solidFill>
              <a:srgbClr val="C8A45C"/>
            </a:solidFill>
            <a:prstDash val="solid"/>
          </a:ln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sp>
        <p:nvSpPr>
          <p:cNvPr id="44" name="Text 34"/>
          <p:cNvSpPr/>
          <p:nvPr/>
        </p:nvSpPr>
        <p:spPr>
          <a:xfrm>
            <a:off x="8933688" y="2487168"/>
            <a:ext cx="2606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A98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strategic_response
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战略竞争应对</a:t>
            </a:r>
            <a:endParaRPr lang="en-US" sz="1250" dirty="0"/>
          </a:p>
        </p:txBody>
      </p:sp>
      <p:sp>
        <p:nvSpPr>
          <p:cNvPr id="45" name="Shape 35"/>
          <p:cNvSpPr/>
          <p:nvPr/>
        </p:nvSpPr>
        <p:spPr>
          <a:xfrm>
            <a:off x="8732520" y="3474720"/>
            <a:ext cx="2971800" cy="786384"/>
          </a:xfrm>
          <a:prstGeom prst="roundRect">
            <a:avLst>
              <a:gd name="adj" fmla="val 10465"/>
            </a:avLst>
          </a:prstGeom>
          <a:solidFill>
            <a:srgbClr val="F7F0E2"/>
          </a:solidFill>
          <a:ln w="12700">
            <a:solidFill>
              <a:srgbClr val="C8A45C"/>
            </a:solidFill>
            <a:prstDash val="solid"/>
          </a:ln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sp>
        <p:nvSpPr>
          <p:cNvPr id="46" name="Text 36"/>
          <p:cNvSpPr/>
          <p:nvPr/>
        </p:nvSpPr>
        <p:spPr>
          <a:xfrm>
            <a:off x="8933688" y="3474720"/>
            <a:ext cx="2606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A98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experience_response
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经验借鉴</a:t>
            </a:r>
            <a:endParaRPr lang="en-US" sz="1250" dirty="0"/>
          </a:p>
        </p:txBody>
      </p:sp>
      <p:sp>
        <p:nvSpPr>
          <p:cNvPr id="47" name="Shape 37"/>
          <p:cNvSpPr/>
          <p:nvPr/>
        </p:nvSpPr>
        <p:spPr>
          <a:xfrm>
            <a:off x="8732520" y="4462272"/>
            <a:ext cx="2971800" cy="786384"/>
          </a:xfrm>
          <a:prstGeom prst="roundRect">
            <a:avLst>
              <a:gd name="adj" fmla="val 10465"/>
            </a:avLst>
          </a:prstGeom>
          <a:solidFill>
            <a:srgbClr val="F7F0E2"/>
          </a:solidFill>
          <a:ln w="12700">
            <a:solidFill>
              <a:srgbClr val="C8A45C"/>
            </a:solidFill>
            <a:prstDash val="solid"/>
          </a:ln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sp>
        <p:nvSpPr>
          <p:cNvPr id="48" name="Text 38"/>
          <p:cNvSpPr/>
          <p:nvPr/>
        </p:nvSpPr>
        <p:spPr>
          <a:xfrm>
            <a:off x="8933688" y="4462272"/>
            <a:ext cx="2606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A98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trend_review
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趋势研判</a:t>
            </a:r>
            <a:endParaRPr lang="en-US" sz="1250" dirty="0"/>
          </a:p>
        </p:txBody>
      </p:sp>
      <p:sp>
        <p:nvSpPr>
          <p:cNvPr id="49" name="Shape 39"/>
          <p:cNvSpPr/>
          <p:nvPr/>
        </p:nvSpPr>
        <p:spPr>
          <a:xfrm>
            <a:off x="8732520" y="5449824"/>
            <a:ext cx="2971800" cy="786384"/>
          </a:xfrm>
          <a:prstGeom prst="roundRect">
            <a:avLst>
              <a:gd name="adj" fmla="val 10465"/>
            </a:avLst>
          </a:prstGeom>
          <a:solidFill>
            <a:srgbClr val="EDF6EE"/>
          </a:solidFill>
          <a:ln w="12700">
            <a:solidFill>
              <a:srgbClr val="9EC3A6"/>
            </a:solidFill>
            <a:prstDash val="solid"/>
          </a:ln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sp>
        <p:nvSpPr>
          <p:cNvPr id="50" name="Text 40"/>
          <p:cNvSpPr/>
          <p:nvPr/>
        </p:nvSpPr>
        <p:spPr>
          <a:xfrm>
            <a:off x="8933688" y="5449824"/>
            <a:ext cx="2606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756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国际比较
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根引擎</a:t>
            </a:r>
            <a:endParaRPr lang="en-US" sz="1250" dirty="0"/>
          </a:p>
        </p:txBody>
      </p:sp>
      <p:sp>
        <p:nvSpPr>
          <p:cNvPr id="51" name="Shape 41"/>
          <p:cNvSpPr/>
          <p:nvPr/>
        </p:nvSpPr>
        <p:spPr>
          <a:xfrm>
            <a:off x="8449056" y="3634740"/>
            <a:ext cx="237744" cy="0"/>
          </a:xfrm>
          <a:prstGeom prst="line">
            <a:avLst/>
          </a:prstGeom>
          <a:noFill/>
          <a:ln w="34925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52" name="Shape 42"/>
          <p:cNvSpPr/>
          <p:nvPr/>
        </p:nvSpPr>
        <p:spPr>
          <a:xfrm>
            <a:off x="777240" y="4709160"/>
            <a:ext cx="7406640" cy="1371600"/>
          </a:xfrm>
          <a:prstGeom prst="roundRect">
            <a:avLst>
              <a:gd name="adj" fmla="val 5333"/>
            </a:avLst>
          </a:prstGeom>
          <a:solidFill>
            <a:srgbClr val="1F3A5F"/>
          </a:solidFill>
          <a:ln/>
        </p:spPr>
      </p:sp>
      <p:sp>
        <p:nvSpPr>
          <p:cNvPr id="53" name="Text 43"/>
          <p:cNvSpPr/>
          <p:nvPr/>
        </p:nvSpPr>
        <p:spPr>
          <a:xfrm>
            <a:off x="1051560" y="470916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C8A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不是每个体例各写一套，而是同一套模块族靠三个旋钮排列组合，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FD0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往哪几维检索 × 用哪条分析深化提示词 × 按哪种文风落点落笔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，就排出多个体例。</a:t>
            </a:r>
            <a:endParaRPr lang="en-US" sz="1300" dirty="0"/>
          </a:p>
        </p:txBody>
      </p:sp>
      <p:sp>
        <p:nvSpPr>
          <p:cNvPr id="54" name="Text 44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55" name="Text 45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政策报告智能写作工作流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A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两种引擎 · ENGINES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两条骨架，按题材二选一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1F3A5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651760"/>
            <a:ext cx="5440680" cy="1828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020824"/>
            <a:ext cx="566928" cy="566928"/>
          </a:xfrm>
          <a:prstGeom prst="ellipse">
            <a:avLst/>
          </a:prstGeom>
          <a:solidFill>
            <a:srgbClr val="5B7CA3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700" y="2179564"/>
            <a:ext cx="249448" cy="2494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929384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根引擎 workflow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BD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章节流水线 · 23 步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754880" y="2057400"/>
            <a:ext cx="96012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4754880" y="205740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步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68680" y="3108960"/>
            <a:ext cx="4800600" cy="566928"/>
          </a:xfrm>
          <a:prstGeom prst="roundRect">
            <a:avLst>
              <a:gd name="adj" fmla="val 12903"/>
            </a:avLst>
          </a:prstGeom>
          <a:solidFill>
            <a:srgbClr val="EAF0F6"/>
          </a:solidFill>
          <a:ln/>
        </p:spPr>
      </p:sp>
      <p:sp>
        <p:nvSpPr>
          <p:cNvPr id="13" name="Text 10"/>
          <p:cNvSpPr/>
          <p:nvPr/>
        </p:nvSpPr>
        <p:spPr>
          <a:xfrm>
            <a:off x="1051560" y="310896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适用题材：</a:t>
            </a:r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国际比较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14400" y="37947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逐章横向铺开多国政策，按章节流水线推进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960120" y="438912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以'章节'为推进单位，逐章横比多国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适合多国政策的横向对照与归纳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样例：《人工智能+教育国际政策比较报告》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309360" y="1783080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09360" y="178308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A9863D"/>
          </a:solidFill>
          <a:ln/>
        </p:spPr>
      </p:sp>
      <p:sp>
        <p:nvSpPr>
          <p:cNvPr id="18" name="Shape 15"/>
          <p:cNvSpPr/>
          <p:nvPr/>
        </p:nvSpPr>
        <p:spPr>
          <a:xfrm>
            <a:off x="6309360" y="2651760"/>
            <a:ext cx="5440680" cy="182880"/>
          </a:xfrm>
          <a:prstGeom prst="rect">
            <a:avLst/>
          </a:prstGeom>
          <a:solidFill>
            <a:srgbClr val="A9863D"/>
          </a:solidFill>
          <a:ln/>
        </p:spPr>
      </p:sp>
      <p:sp>
        <p:nvSpPr>
          <p:cNvPr id="19" name="Shape 16"/>
          <p:cNvSpPr/>
          <p:nvPr/>
        </p:nvSpPr>
        <p:spPr>
          <a:xfrm>
            <a:off x="6583680" y="2020824"/>
            <a:ext cx="566928" cy="566928"/>
          </a:xfrm>
          <a:prstGeom prst="ellipse">
            <a:avLst/>
          </a:prstGeom>
          <a:solidFill>
            <a:srgbClr val="C8A45C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2420" y="2179564"/>
            <a:ext cx="249448" cy="24944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315200" y="1929384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strategic 引擎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3E5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判断流水线 · 16 步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10515600" y="2057400"/>
            <a:ext cx="96012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/>
        </p:spPr>
      </p:sp>
      <p:sp>
        <p:nvSpPr>
          <p:cNvPr id="23" name="Text 19"/>
          <p:cNvSpPr/>
          <p:nvPr/>
        </p:nvSpPr>
        <p:spPr>
          <a:xfrm>
            <a:off x="10515600" y="205740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98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步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6629400" y="3108960"/>
            <a:ext cx="4800600" cy="566928"/>
          </a:xfrm>
          <a:prstGeom prst="roundRect">
            <a:avLst>
              <a:gd name="adj" fmla="val 12903"/>
            </a:avLst>
          </a:prstGeom>
          <a:solidFill>
            <a:srgbClr val="F7F0E2"/>
          </a:solidFill>
          <a:ln/>
        </p:spPr>
      </p:sp>
      <p:sp>
        <p:nvSpPr>
          <p:cNvPr id="25" name="Text 21"/>
          <p:cNvSpPr/>
          <p:nvPr/>
        </p:nvSpPr>
        <p:spPr>
          <a:xfrm>
            <a:off x="6812280" y="310896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适用题材：</a:t>
            </a:r>
            <a:pPr indent="0" marL="0">
              <a:buNone/>
            </a:pPr>
            <a:r>
              <a:rPr lang="en-US" sz="1500" b="1" dirty="0">
                <a:solidFill>
                  <a:srgbClr val="A98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体例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675120" y="37947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以'判断'为推进单位，产出战略研判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6720840" y="438912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竞争应对 strategic_response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经验借鉴 experience_response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趋势研判 trend_review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政策报告智能写作工作流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A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使用方式 · 图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人怎么用：搜料 → 成料 → 选体例写 → 审核优化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3360420"/>
            <a:ext cx="1371600" cy="914400"/>
          </a:xfrm>
          <a:prstGeom prst="roundRect">
            <a:avLst>
              <a:gd name="adj" fmla="val 12000"/>
            </a:avLst>
          </a:prstGeom>
          <a:solidFill>
            <a:srgbClr val="142838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3159252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5433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874520" y="3817620"/>
            <a:ext cx="256032" cy="0"/>
          </a:xfrm>
          <a:prstGeom prst="line">
            <a:avLst/>
          </a:prstGeom>
          <a:noFill/>
          <a:ln w="38100">
            <a:solidFill>
              <a:srgbClr val="C8A45C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148840" y="2514600"/>
            <a:ext cx="2377440" cy="26060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953512" y="2752344"/>
            <a:ext cx="768096" cy="768096"/>
          </a:xfrm>
          <a:prstGeom prst="ellipse">
            <a:avLst/>
          </a:prstGeom>
          <a:solidFill>
            <a:srgbClr val="1F3A5F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579" y="2967411"/>
            <a:ext cx="337962" cy="3379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48840" y="35753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2286000" y="403250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搜资料 + 检索成料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2313432" y="4599432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研究问题拆成检索维度，逐维取材料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0" y="3817620"/>
            <a:ext cx="320040" cy="0"/>
          </a:xfrm>
          <a:prstGeom prst="line">
            <a:avLst/>
          </a:prstGeom>
          <a:noFill/>
          <a:ln w="38100">
            <a:solidFill>
              <a:srgbClr val="C8A45C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4937760" y="2514600"/>
            <a:ext cx="2377440" cy="26060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742432" y="2752344"/>
            <a:ext cx="768096" cy="768096"/>
          </a:xfrm>
          <a:prstGeom prst="ellipse">
            <a:avLst/>
          </a:prstGeom>
          <a:solidFill>
            <a:srgbClr val="5B7CA3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499" y="2967411"/>
            <a:ext cx="337962" cy="33796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37760" y="35753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7C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5074920" y="403250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识别体例 + 跑写作引擎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5102352" y="4599432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 report-type → 一条 runner.py 启动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7360920" y="3817620"/>
            <a:ext cx="320040" cy="0"/>
          </a:xfrm>
          <a:prstGeom prst="line">
            <a:avLst/>
          </a:prstGeom>
          <a:noFill/>
          <a:ln w="38100">
            <a:solidFill>
              <a:srgbClr val="C8A45C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7726680" y="2514600"/>
            <a:ext cx="2377440" cy="26060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531352" y="2752344"/>
            <a:ext cx="768096" cy="768096"/>
          </a:xfrm>
          <a:prstGeom prst="ellipse">
            <a:avLst/>
          </a:prstGeom>
          <a:solidFill>
            <a:srgbClr val="A9863D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6419" y="2967411"/>
            <a:ext cx="337962" cy="33796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726680" y="35753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98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2400" dirty="0"/>
          </a:p>
        </p:txBody>
      </p:sp>
      <p:sp>
        <p:nvSpPr>
          <p:cNvPr id="26" name="Text 20"/>
          <p:cNvSpPr/>
          <p:nvPr/>
        </p:nvSpPr>
        <p:spPr>
          <a:xfrm>
            <a:off x="7863840" y="403250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教科院 skill 审核优化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7891272" y="4599432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jiaokeyuan 审改整篇 + 建议核查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10122408" y="3817620"/>
            <a:ext cx="384048" cy="0"/>
          </a:xfrm>
          <a:prstGeom prst="line">
            <a:avLst/>
          </a:prstGeom>
          <a:noFill/>
          <a:ln w="38100">
            <a:solidFill>
              <a:srgbClr val="C8A45C"/>
            </a:solidFill>
            <a:prstDash val="solid"/>
            <a:tailEnd type="triangle"/>
          </a:ln>
        </p:spPr>
      </p:sp>
      <p:sp>
        <p:nvSpPr>
          <p:cNvPr id="29" name="Shape 23"/>
          <p:cNvSpPr/>
          <p:nvPr/>
        </p:nvSpPr>
        <p:spPr>
          <a:xfrm>
            <a:off x="10561320" y="3360420"/>
            <a:ext cx="1371600" cy="914400"/>
          </a:xfrm>
          <a:prstGeom prst="roundRect">
            <a:avLst>
              <a:gd name="adj" fmla="val 12000"/>
            </a:avLst>
          </a:prstGeom>
          <a:solidFill>
            <a:srgbClr val="27562F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9104" y="3159252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0561320" y="356158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成稿</a:t>
            </a:r>
            <a:endParaRPr lang="en-US" sz="1600" dirty="0"/>
          </a:p>
        </p:txBody>
      </p:sp>
      <p:sp>
        <p:nvSpPr>
          <p:cNvPr id="32" name="Shape 25"/>
          <p:cNvSpPr/>
          <p:nvPr/>
        </p:nvSpPr>
        <p:spPr>
          <a:xfrm>
            <a:off x="4732020" y="5138928"/>
            <a:ext cx="0" cy="347472"/>
          </a:xfrm>
          <a:prstGeom prst="line">
            <a:avLst/>
          </a:prstGeom>
          <a:noFill/>
          <a:ln w="22225">
            <a:solidFill>
              <a:srgbClr val="5B7CA3"/>
            </a:solidFill>
            <a:prstDash val="dash"/>
            <a:tailEnd type="triangle"/>
          </a:ln>
        </p:spPr>
      </p:sp>
      <p:sp>
        <p:nvSpPr>
          <p:cNvPr id="33" name="Shape 26"/>
          <p:cNvSpPr/>
          <p:nvPr/>
        </p:nvSpPr>
        <p:spPr>
          <a:xfrm>
            <a:off x="3474720" y="5504688"/>
            <a:ext cx="2514600" cy="566928"/>
          </a:xfrm>
          <a:prstGeom prst="roundRect">
            <a:avLst>
              <a:gd name="adj" fmla="val 16129"/>
            </a:avLst>
          </a:prstGeom>
          <a:solidFill>
            <a:srgbClr val="EAF0F6"/>
          </a:solidFill>
          <a:ln w="12700">
            <a:solidFill>
              <a:srgbClr val="C9D4E0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5888" y="5650992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4041648" y="55046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料包 retrieval_outputs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7520940" y="5138928"/>
            <a:ext cx="0" cy="347472"/>
          </a:xfrm>
          <a:prstGeom prst="line">
            <a:avLst/>
          </a:prstGeom>
          <a:noFill/>
          <a:ln w="22225">
            <a:solidFill>
              <a:srgbClr val="5B7CA3"/>
            </a:solidFill>
            <a:prstDash val="dash"/>
            <a:tailEnd type="triangle"/>
          </a:ln>
        </p:spPr>
      </p:sp>
      <p:sp>
        <p:nvSpPr>
          <p:cNvPr id="37" name="Shape 29"/>
          <p:cNvSpPr/>
          <p:nvPr/>
        </p:nvSpPr>
        <p:spPr>
          <a:xfrm>
            <a:off x="6263640" y="5504688"/>
            <a:ext cx="2514600" cy="566928"/>
          </a:xfrm>
          <a:prstGeom prst="roundRect">
            <a:avLst>
              <a:gd name="adj" fmla="val 16129"/>
            </a:avLst>
          </a:prstGeom>
          <a:solidFill>
            <a:srgbClr val="EAF0F6"/>
          </a:solidFill>
          <a:ln w="12700">
            <a:solidFill>
              <a:srgbClr val="C9D4E0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4808" y="5650992"/>
            <a:ext cx="274320" cy="27432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830568" y="55046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初稿 final_*.docx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00" dirty="0"/>
          </a:p>
        </p:txBody>
      </p:sp>
      <p:sp>
        <p:nvSpPr>
          <p:cNvPr id="41" name="Text 32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政策报告智能写作工作流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A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材料从哪来 · 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三条路取材，出口统一 —— 这是解耦点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2900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79092" y="2057400"/>
            <a:ext cx="768096" cy="768096"/>
          </a:xfrm>
          <a:prstGeom prst="ellipse">
            <a:avLst/>
          </a:prstGeom>
          <a:solidFill>
            <a:srgbClr val="1F3A5F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4159" y="2272467"/>
            <a:ext cx="337962" cy="3379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95351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NotebookLM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05840" y="3410712"/>
            <a:ext cx="2514600" cy="384048"/>
          </a:xfrm>
          <a:prstGeom prst="roundRect">
            <a:avLst>
              <a:gd name="adj" fmla="val 47619"/>
            </a:avLst>
          </a:prstGeom>
          <a:solidFill>
            <a:srgbClr val="EAF0F6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341071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自有知识库 · 现查现铺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8680" y="386791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把已建库的资料现场检索、即时铺进料包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263140" y="4315968"/>
            <a:ext cx="0" cy="502920"/>
          </a:xfrm>
          <a:prstGeom prst="line">
            <a:avLst/>
          </a:prstGeom>
          <a:noFill/>
          <a:ln w="31750">
            <a:solidFill>
              <a:srgbClr val="5B7CA3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297680" y="1783080"/>
            <a:ext cx="342900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28132" y="2057400"/>
            <a:ext cx="768096" cy="768096"/>
          </a:xfrm>
          <a:prstGeom prst="ellipse">
            <a:avLst/>
          </a:prstGeom>
          <a:solidFill>
            <a:srgbClr val="5B7CA3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199" y="2272467"/>
            <a:ext cx="337962" cy="33796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26280" y="295351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topic-material-search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754880" y="3410712"/>
            <a:ext cx="2514600" cy="384048"/>
          </a:xfrm>
          <a:prstGeom prst="roundRect">
            <a:avLst>
              <a:gd name="adj" fmla="val 47619"/>
            </a:avLst>
          </a:prstGeom>
          <a:solidFill>
            <a:srgbClr val="EAF0F6"/>
          </a:solidFill>
          <a:ln/>
        </p:spPr>
      </p:sp>
      <p:sp>
        <p:nvSpPr>
          <p:cNvPr id="17" name="Text 13"/>
          <p:cNvSpPr/>
          <p:nvPr/>
        </p:nvSpPr>
        <p:spPr>
          <a:xfrm>
            <a:off x="4754880" y="341071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7C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公网检索 + DeepSeek 复审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4617720" y="386791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公网搜到的材料再过 DeepSeek 复审筛选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012180" y="4315968"/>
            <a:ext cx="0" cy="502920"/>
          </a:xfrm>
          <a:prstGeom prst="line">
            <a:avLst/>
          </a:prstGeom>
          <a:noFill/>
          <a:ln w="31750">
            <a:solidFill>
              <a:srgbClr val="5B7CA3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8046720" y="1783080"/>
            <a:ext cx="342900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9377172" y="2057400"/>
            <a:ext cx="768096" cy="768096"/>
          </a:xfrm>
          <a:prstGeom prst="ellipse">
            <a:avLst/>
          </a:prstGeom>
          <a:solidFill>
            <a:srgbClr val="A9863D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2239" y="2272467"/>
            <a:ext cx="337962" cy="33796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275320" y="295351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复用料包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8503920" y="3410712"/>
            <a:ext cx="2514600" cy="384048"/>
          </a:xfrm>
          <a:prstGeom prst="roundRect">
            <a:avLst>
              <a:gd name="adj" fmla="val 47619"/>
            </a:avLst>
          </a:prstGeom>
          <a:solidFill>
            <a:srgbClr val="EAF0F6"/>
          </a:solidFill>
          <a:ln/>
        </p:spPr>
      </p:sp>
      <p:sp>
        <p:nvSpPr>
          <p:cNvPr id="25" name="Text 20"/>
          <p:cNvSpPr/>
          <p:nvPr/>
        </p:nvSpPr>
        <p:spPr>
          <a:xfrm>
            <a:off x="8503920" y="341071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8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--reuse-materials-run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8366760" y="386791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直接复用此前某次运行已成的料包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9761220" y="4315968"/>
            <a:ext cx="0" cy="502920"/>
          </a:xfrm>
          <a:prstGeom prst="line">
            <a:avLst/>
          </a:prstGeom>
          <a:noFill/>
          <a:ln w="31750">
            <a:solidFill>
              <a:srgbClr val="5B7CA3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548640" y="4864608"/>
            <a:ext cx="10927080" cy="1234440"/>
          </a:xfrm>
          <a:prstGeom prst="roundRect">
            <a:avLst>
              <a:gd name="adj" fmla="val 5926"/>
            </a:avLst>
          </a:prstGeom>
          <a:solidFill>
            <a:srgbClr val="1F3A5F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248656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554480" y="4864608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统一料包 </a:t>
            </a:r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C8A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retrieval_outputs/*.md</a:t>
            </a:r>
            <a:pPr indent="0" marL="0">
              <a:lnSpc>
                <a:spcPct val="120000"/>
              </a:lnSpc>
              <a:buNone/>
            </a:pP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二段式：检索内容 / 相关文献 —— 文件名对齐体例的检索维度</a:t>
            </a:r>
            <a:endParaRPr lang="en-US" sz="1700" dirty="0"/>
          </a:p>
        </p:txBody>
      </p:sp>
      <p:sp>
        <p:nvSpPr>
          <p:cNvPr id="31" name="Shape 25"/>
          <p:cNvSpPr/>
          <p:nvPr/>
        </p:nvSpPr>
        <p:spPr>
          <a:xfrm>
            <a:off x="8869680" y="5120640"/>
            <a:ext cx="2331720" cy="731520"/>
          </a:xfrm>
          <a:prstGeom prst="roundRect">
            <a:avLst>
              <a:gd name="adj" fmla="val 12500"/>
            </a:avLst>
          </a:prstGeom>
          <a:solidFill>
            <a:srgbClr val="C8A45C"/>
          </a:solidFill>
          <a:ln/>
        </p:spPr>
      </p:sp>
      <p:sp>
        <p:nvSpPr>
          <p:cNvPr id="32" name="Text 26"/>
          <p:cNvSpPr/>
          <p:nvPr/>
        </p:nvSpPr>
        <p:spPr>
          <a:xfrm>
            <a:off x="8869680" y="51206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来源灵活，出口统一</a:t>
            </a:r>
            <a:endParaRPr lang="en-US" sz="1350" dirty="0"/>
          </a:p>
        </p:txBody>
      </p:sp>
      <p:sp>
        <p:nvSpPr>
          <p:cNvPr id="33" name="Text 27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政策报告智能写作工作流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A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识别体例 · REPORT-TYPE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选对体例，写作才对味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题材判断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37960" y="13716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选用体例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6692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828800"/>
            <a:ext cx="5120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国际比较（逐章横比多国）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54496" y="2221992"/>
            <a:ext cx="256032" cy="0"/>
          </a:xfrm>
          <a:prstGeom prst="line">
            <a:avLst/>
          </a:prstGeom>
          <a:noFill/>
          <a:ln w="31750">
            <a:solidFill>
              <a:srgbClr val="C8A45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537960" y="1828800"/>
            <a:ext cx="5394960" cy="786384"/>
          </a:xfrm>
          <a:prstGeom prst="roundRect">
            <a:avLst>
              <a:gd name="adj" fmla="val 9302"/>
            </a:avLst>
          </a:prstGeom>
          <a:solidFill>
            <a:srgbClr val="1F3A5F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20840" y="1984248"/>
            <a:ext cx="475488" cy="47548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3977" y="2117385"/>
            <a:ext cx="209215" cy="20921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360920" y="1828800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根引擎 workflow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2761488"/>
            <a:ext cx="56692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68680" y="2761488"/>
            <a:ext cx="5120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战略竞争应对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254496" y="3154680"/>
            <a:ext cx="256032" cy="0"/>
          </a:xfrm>
          <a:prstGeom prst="line">
            <a:avLst/>
          </a:prstGeom>
          <a:noFill/>
          <a:ln w="31750">
            <a:solidFill>
              <a:srgbClr val="C8A45C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537960" y="2761488"/>
            <a:ext cx="5394960" cy="786384"/>
          </a:xfrm>
          <a:prstGeom prst="roundRect">
            <a:avLst>
              <a:gd name="adj" fmla="val 9302"/>
            </a:avLst>
          </a:prstGeom>
          <a:solidFill>
            <a:srgbClr val="A9863D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720840" y="2916936"/>
            <a:ext cx="475488" cy="47548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977" y="3050073"/>
            <a:ext cx="209215" cy="20921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60920" y="2761488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strategic_response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548640" y="3694176"/>
            <a:ext cx="56692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868680" y="3694176"/>
            <a:ext cx="5120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经验借鉴</a:t>
            </a:r>
            <a:endParaRPr lang="en-US" sz="1450" dirty="0"/>
          </a:p>
        </p:txBody>
      </p:sp>
      <p:sp>
        <p:nvSpPr>
          <p:cNvPr id="22" name="Shape 18"/>
          <p:cNvSpPr/>
          <p:nvPr/>
        </p:nvSpPr>
        <p:spPr>
          <a:xfrm>
            <a:off x="6254496" y="4087368"/>
            <a:ext cx="256032" cy="0"/>
          </a:xfrm>
          <a:prstGeom prst="line">
            <a:avLst/>
          </a:prstGeom>
          <a:noFill/>
          <a:ln w="31750">
            <a:solidFill>
              <a:srgbClr val="C8A45C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6537960" y="3694176"/>
            <a:ext cx="5394960" cy="786384"/>
          </a:xfrm>
          <a:prstGeom prst="roundRect">
            <a:avLst>
              <a:gd name="adj" fmla="val 9302"/>
            </a:avLst>
          </a:prstGeom>
          <a:solidFill>
            <a:srgbClr val="5B7CA3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720840" y="3849624"/>
            <a:ext cx="475488" cy="47548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3977" y="3982761"/>
            <a:ext cx="209215" cy="209215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360920" y="3694176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experience_response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548640" y="4626864"/>
            <a:ext cx="56692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868680" y="4626864"/>
            <a:ext cx="5120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趋势研判</a:t>
            </a:r>
            <a:endParaRPr lang="en-US" sz="1450" dirty="0"/>
          </a:p>
        </p:txBody>
      </p:sp>
      <p:sp>
        <p:nvSpPr>
          <p:cNvPr id="29" name="Shape 24"/>
          <p:cNvSpPr/>
          <p:nvPr/>
        </p:nvSpPr>
        <p:spPr>
          <a:xfrm>
            <a:off x="6254496" y="5020056"/>
            <a:ext cx="256032" cy="0"/>
          </a:xfrm>
          <a:prstGeom prst="line">
            <a:avLst/>
          </a:prstGeom>
          <a:noFill/>
          <a:ln w="31750">
            <a:solidFill>
              <a:srgbClr val="C8A45C"/>
            </a:solidFill>
            <a:prstDash val="solid"/>
            <a:tailEnd type="triangle"/>
          </a:ln>
        </p:spPr>
      </p:sp>
      <p:sp>
        <p:nvSpPr>
          <p:cNvPr id="30" name="Shape 25"/>
          <p:cNvSpPr/>
          <p:nvPr/>
        </p:nvSpPr>
        <p:spPr>
          <a:xfrm>
            <a:off x="6537960" y="4626864"/>
            <a:ext cx="5394960" cy="786384"/>
          </a:xfrm>
          <a:prstGeom prst="roundRect">
            <a:avLst>
              <a:gd name="adj" fmla="val 9302"/>
            </a:avLst>
          </a:prstGeom>
          <a:solidFill>
            <a:srgbClr val="3F7D52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720840" y="4782312"/>
            <a:ext cx="475488" cy="47548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3977" y="4915449"/>
            <a:ext cx="209215" cy="209215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360920" y="4626864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trend_review</a:t>
            </a:r>
            <a:endParaRPr lang="en-US" sz="1500" dirty="0"/>
          </a:p>
        </p:txBody>
      </p:sp>
      <p:sp>
        <p:nvSpPr>
          <p:cNvPr id="34" name="Shape 28"/>
          <p:cNvSpPr/>
          <p:nvPr/>
        </p:nvSpPr>
        <p:spPr>
          <a:xfrm>
            <a:off x="548640" y="5605272"/>
            <a:ext cx="11384280" cy="841248"/>
          </a:xfrm>
          <a:prstGeom prst="roundRect">
            <a:avLst>
              <a:gd name="adj" fmla="val 8696"/>
            </a:avLst>
          </a:prstGeom>
          <a:solidFill>
            <a:srgbClr val="F7F0E2"/>
          </a:solidFill>
          <a:ln w="15875">
            <a:solidFill>
              <a:srgbClr val="C8A45C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861304"/>
            <a:ext cx="329184" cy="32918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325880" y="5605272"/>
            <a:ext cx="10515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8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没有合适体例？ </a:t>
            </a:r>
            <a:pPr indent="0" marL="0">
              <a:buNone/>
            </a:pPr>
            <a:r>
              <a:rPr lang="en-US" sz="1300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</a:t>
            </a:r>
            <a:pPr indent="0" marL="0">
              <a:buNone/>
            </a:pPr>
            <a:r>
              <a:rPr lang="en-US" sz="1300" b="1" i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distill-report-module</a:t>
            </a:r>
            <a:pPr indent="0" marL="0">
              <a:buNone/>
            </a:pPr>
            <a:r>
              <a:rPr lang="en-US" sz="1300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从范文蒸馏，现造一个新体例。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政策报告智能写作工作流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A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引擎内部运行 · 图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一条命令，内部自动跑「检索→构思→写作→自审→改写→导出」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66928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6656" y="1819656"/>
            <a:ext cx="438912" cy="438912"/>
          </a:xfrm>
          <a:prstGeom prst="ellipse">
            <a:avLst/>
          </a:prstGeom>
          <a:solidFill>
            <a:srgbClr val="1F3A5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93852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1737360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   </a:t>
            </a:r>
            <a:pPr indent="0" marL="0">
              <a:buNone/>
            </a:pPr>
            <a:r>
              <a:rPr lang="en-US" sz="115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retrieval_outputs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" y="2350008"/>
            <a:ext cx="0" cy="150876"/>
          </a:xfrm>
          <a:prstGeom prst="line">
            <a:avLst/>
          </a:prstGeom>
          <a:noFill/>
          <a:ln w="25400">
            <a:solidFill>
              <a:srgbClr val="C8A45C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548640" y="2510028"/>
            <a:ext cx="566928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76656" y="2592324"/>
            <a:ext cx="438912" cy="438912"/>
          </a:xfrm>
          <a:prstGeom prst="ellipse">
            <a:avLst/>
          </a:prstGeom>
          <a:solidFill>
            <a:srgbClr val="A986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711196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61872" y="251002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构思   </a:t>
            </a:r>
            <a:pPr indent="0" marL="0">
              <a:buNone/>
            </a:pPr>
            <a:r>
              <a:rPr lang="en-US" sz="115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分析深化 + 战略高度提示词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914400" y="3122676"/>
            <a:ext cx="0" cy="150876"/>
          </a:xfrm>
          <a:prstGeom prst="line">
            <a:avLst/>
          </a:prstGeom>
          <a:noFill/>
          <a:ln w="25400">
            <a:solidFill>
              <a:srgbClr val="C8A45C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548640" y="3282696"/>
            <a:ext cx="566928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76656" y="3364992"/>
            <a:ext cx="438912" cy="438912"/>
          </a:xfrm>
          <a:prstGeom prst="ellipse">
            <a:avLst/>
          </a:prstGeom>
          <a:solidFill>
            <a:srgbClr val="A986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483864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61872" y="328269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   </a:t>
            </a:r>
            <a:pPr indent="0" marL="0">
              <a:buNone/>
            </a:pPr>
            <a:r>
              <a:rPr lang="en-US" sz="115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文风 + 教育落点提示词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914400" y="3895344"/>
            <a:ext cx="0" cy="150876"/>
          </a:xfrm>
          <a:prstGeom prst="line">
            <a:avLst/>
          </a:prstGeom>
          <a:noFill/>
          <a:ln w="25400">
            <a:solidFill>
              <a:srgbClr val="C8A45C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548640" y="4055364"/>
            <a:ext cx="566928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76656" y="4137660"/>
            <a:ext cx="438912" cy="438912"/>
          </a:xfrm>
          <a:prstGeom prst="ellipse">
            <a:avLst/>
          </a:prstGeom>
          <a:solidFill>
            <a:srgbClr val="5B7CA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25653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61872" y="4055364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自审   </a:t>
            </a:r>
            <a:pPr indent="0" marL="0">
              <a:buNone/>
            </a:pPr>
            <a:r>
              <a:rPr lang="en-US" sz="115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 / 结构审查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914400" y="4668012"/>
            <a:ext cx="0" cy="150876"/>
          </a:xfrm>
          <a:prstGeom prst="line">
            <a:avLst/>
          </a:prstGeom>
          <a:noFill/>
          <a:ln w="25400">
            <a:solidFill>
              <a:srgbClr val="C8A45C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548640" y="4828032"/>
            <a:ext cx="566928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76656" y="4910328"/>
            <a:ext cx="438912" cy="438912"/>
          </a:xfrm>
          <a:prstGeom prst="ellipse">
            <a:avLst/>
          </a:prstGeom>
          <a:solidFill>
            <a:srgbClr val="5B7CA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5029200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61872" y="4828032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改写   </a:t>
            </a:r>
            <a:pPr indent="0" marL="0">
              <a:buNone/>
            </a:pPr>
            <a:r>
              <a:rPr lang="en-US" sz="115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据审查重写</a:t>
            </a:r>
            <a:endParaRPr lang="en-US" sz="1500" dirty="0"/>
          </a:p>
        </p:txBody>
      </p:sp>
      <p:sp>
        <p:nvSpPr>
          <p:cNvPr id="28" name="Shape 21"/>
          <p:cNvSpPr/>
          <p:nvPr/>
        </p:nvSpPr>
        <p:spPr>
          <a:xfrm>
            <a:off x="914400" y="5440680"/>
            <a:ext cx="0" cy="150876"/>
          </a:xfrm>
          <a:prstGeom prst="line">
            <a:avLst/>
          </a:prstGeom>
          <a:noFill/>
          <a:ln w="25400">
            <a:solidFill>
              <a:srgbClr val="C8A45C"/>
            </a:solidFill>
            <a:prstDash val="solid"/>
            <a:tailEnd type="triangle"/>
          </a:ln>
        </p:spPr>
      </p:sp>
      <p:sp>
        <p:nvSpPr>
          <p:cNvPr id="29" name="Shape 22"/>
          <p:cNvSpPr/>
          <p:nvPr/>
        </p:nvSpPr>
        <p:spPr>
          <a:xfrm>
            <a:off x="548640" y="5600700"/>
            <a:ext cx="566928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76656" y="5682996"/>
            <a:ext cx="438912" cy="438912"/>
          </a:xfrm>
          <a:prstGeom prst="ellipse">
            <a:avLst/>
          </a:prstGeom>
          <a:solidFill>
            <a:srgbClr val="1F3A5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5801868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261872" y="5600700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   </a:t>
            </a:r>
            <a:pPr indent="0" marL="0">
              <a:buNone/>
            </a:pPr>
            <a:r>
              <a:rPr lang="en-US" sz="115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docx</a:t>
            </a:r>
            <a:endParaRPr lang="en-US" sz="1500" dirty="0"/>
          </a:p>
        </p:txBody>
      </p:sp>
      <p:sp>
        <p:nvSpPr>
          <p:cNvPr id="33" name="Shape 25"/>
          <p:cNvSpPr/>
          <p:nvPr/>
        </p:nvSpPr>
        <p:spPr>
          <a:xfrm>
            <a:off x="6419088" y="1737360"/>
            <a:ext cx="566928" cy="4466844"/>
          </a:xfrm>
          <a:prstGeom prst="roundRect">
            <a:avLst>
              <a:gd name="adj" fmla="val 16129"/>
            </a:avLst>
          </a:prstGeom>
          <a:solidFill>
            <a:srgbClr val="142838"/>
          </a:solidFill>
          <a:ln/>
        </p:spPr>
      </p:sp>
      <p:sp>
        <p:nvSpPr>
          <p:cNvPr id="34" name="Text 26"/>
          <p:cNvSpPr/>
          <p:nvPr/>
        </p:nvSpPr>
        <p:spPr>
          <a:xfrm rot="16200000">
            <a:off x="4606290" y="3787902"/>
            <a:ext cx="4192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A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task_state.md  全程记录进度 · 断点可 --continue / --resume 续跑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7223760" y="1737360"/>
            <a:ext cx="4434840" cy="4611582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pic>
        <p:nvPicPr>
          <p:cNvPr id="36" name="Image 6" descr="dashboard.png">    </p:cNvPr>
          <p:cNvPicPr>
            <a:picLocks noChangeAspect="1"/>
          </p:cNvPicPr>
          <p:nvPr/>
        </p:nvPicPr>
        <p:blipFill>
          <a:blip r:embed="rId7"/>
          <a:srcRect l="0" r="0" t="-4348" b="-4348"/>
          <a:stretch/>
        </p:blipFill>
        <p:spPr>
          <a:xfrm>
            <a:off x="7360920" y="1874520"/>
            <a:ext cx="4206240" cy="429154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223760" y="604719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提示词仪表盘（运行时可视化每步注入的提示词）</a:t>
            </a:r>
            <a:endParaRPr lang="en-US" sz="1050" dirty="0"/>
          </a:p>
        </p:txBody>
      </p:sp>
      <p:sp>
        <p:nvSpPr>
          <p:cNvPr id="38" name="Text 29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政策报告智能写作工作流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A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质量保障 · 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怎么保证不是'AI 味'——四件提示词 + 自审兜底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70048" cy="27432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17904" y="2148840"/>
            <a:ext cx="731520" cy="731520"/>
          </a:xfrm>
          <a:prstGeom prst="ellipse">
            <a:avLst/>
          </a:prstGeom>
          <a:solidFill>
            <a:srgbClr val="1F3A5F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2730" y="2353666"/>
            <a:ext cx="321869" cy="3218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99008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文风提示词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1051560" y="3447288"/>
            <a:ext cx="1664208" cy="384048"/>
          </a:xfrm>
          <a:prstGeom prst="roundRect">
            <a:avLst>
              <a:gd name="adj" fmla="val 47619"/>
            </a:avLst>
          </a:prstGeom>
          <a:solidFill>
            <a:srgbClr val="F7F0E2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344728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8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内参体例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4672" y="3931920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书面化措辞、内参句式，像人写、像内参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93008" y="1874520"/>
            <a:ext cx="2670048" cy="27432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62272" y="2148840"/>
            <a:ext cx="731520" cy="731520"/>
          </a:xfrm>
          <a:prstGeom prst="ellipse">
            <a:avLst/>
          </a:prstGeom>
          <a:solidFill>
            <a:srgbClr val="A9863D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098" y="2353666"/>
            <a:ext cx="321869" cy="32186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75888" y="299008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分析深化提示词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3995928" y="3447288"/>
            <a:ext cx="1664208" cy="384048"/>
          </a:xfrm>
          <a:prstGeom prst="roundRect">
            <a:avLst>
              <a:gd name="adj" fmla="val 47619"/>
            </a:avLst>
          </a:prstGeom>
          <a:solidFill>
            <a:srgbClr val="F7F0E2"/>
          </a:solidFill>
          <a:ln/>
        </p:spPr>
      </p:sp>
      <p:sp>
        <p:nvSpPr>
          <p:cNvPr id="16" name="Text 12"/>
          <p:cNvSpPr/>
          <p:nvPr/>
        </p:nvSpPr>
        <p:spPr>
          <a:xfrm>
            <a:off x="3995928" y="344728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8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分析深度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749040" y="3931920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把描述推到机制与因果，避免罗列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437376" y="1874520"/>
            <a:ext cx="2670048" cy="27432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406640" y="2148840"/>
            <a:ext cx="731520" cy="731520"/>
          </a:xfrm>
          <a:prstGeom prst="ellipse">
            <a:avLst/>
          </a:prstGeom>
          <a:solidFill>
            <a:srgbClr val="5B7CA3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1466" y="2353666"/>
            <a:ext cx="321869" cy="32186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20256" y="299008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战略高度提示词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6940296" y="3447288"/>
            <a:ext cx="1664208" cy="384048"/>
          </a:xfrm>
          <a:prstGeom prst="roundRect">
            <a:avLst>
              <a:gd name="adj" fmla="val 47619"/>
            </a:avLst>
          </a:prstGeom>
          <a:solidFill>
            <a:srgbClr val="F7F0E2"/>
          </a:solidFill>
          <a:ln/>
        </p:spPr>
      </p:sp>
      <p:sp>
        <p:nvSpPr>
          <p:cNvPr id="23" name="Text 18"/>
          <p:cNvSpPr/>
          <p:nvPr/>
        </p:nvSpPr>
        <p:spPr>
          <a:xfrm>
            <a:off x="6940296" y="344728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8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全局站位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693408" y="3931920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从国家/战略层面立论，拔高视角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9381744" y="1874520"/>
            <a:ext cx="2670048" cy="27432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10351008" y="2148840"/>
            <a:ext cx="731520" cy="731520"/>
          </a:xfrm>
          <a:prstGeom prst="ellipse">
            <a:avLst/>
          </a:prstGeom>
          <a:solidFill>
            <a:srgbClr val="3F7D52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5834" y="2353666"/>
            <a:ext cx="321869" cy="321869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564624" y="299008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教育落点提示词</a:t>
            </a:r>
            <a:endParaRPr lang="en-US" sz="1450" dirty="0"/>
          </a:p>
        </p:txBody>
      </p:sp>
      <p:sp>
        <p:nvSpPr>
          <p:cNvPr id="29" name="Shape 23"/>
          <p:cNvSpPr/>
          <p:nvPr/>
        </p:nvSpPr>
        <p:spPr>
          <a:xfrm>
            <a:off x="9884664" y="3447288"/>
            <a:ext cx="1664208" cy="384048"/>
          </a:xfrm>
          <a:prstGeom prst="roundRect">
            <a:avLst>
              <a:gd name="adj" fmla="val 47619"/>
            </a:avLst>
          </a:prstGeom>
          <a:solidFill>
            <a:srgbClr val="F7F0E2"/>
          </a:solidFill>
          <a:ln/>
        </p:spPr>
      </p:sp>
      <p:sp>
        <p:nvSpPr>
          <p:cNvPr id="30" name="Text 24"/>
          <p:cNvSpPr/>
          <p:nvPr/>
        </p:nvSpPr>
        <p:spPr>
          <a:xfrm>
            <a:off x="9884664" y="344728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8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落到教育域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9637776" y="3931920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议题最终收束到教育与人才培养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548640" y="4892040"/>
            <a:ext cx="11503152" cy="841248"/>
          </a:xfrm>
          <a:prstGeom prst="roundRect">
            <a:avLst>
              <a:gd name="adj" fmla="val 8696"/>
            </a:avLst>
          </a:prstGeom>
          <a:solidFill>
            <a:srgbClr val="1F3A5F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138928"/>
            <a:ext cx="365760" cy="36576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417320" y="4892040"/>
            <a:ext cx="10405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自审 + 改写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引擎内部先自查内容/结构、再据审查重写 —— 体内兜底，四件提示词管'像人写'，自审管'不出错'。</a:t>
            </a:r>
            <a:endParaRPr lang="en-US" sz="1500" dirty="0"/>
          </a:p>
        </p:txBody>
      </p:sp>
      <p:sp>
        <p:nvSpPr>
          <p:cNvPr id="35" name="Text 28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政策报告智能写作工作流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A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审核优化层 · 教科院 SKILL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体外做人味精修：审改整篇 + 建议核查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60320"/>
            <a:ext cx="5440680" cy="1828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5B7CA3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165299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92024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jiaokeyuan-researcher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BD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以教科院研究员范式审改整篇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05840" y="301752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补课题组署名，收束判断口径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措辞书面化、中性化，合内参体例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整体调结构、拔站位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309360" y="1828800"/>
            <a:ext cx="54406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09360" y="182880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A9863D"/>
          </a:solidFill>
          <a:ln/>
        </p:spPr>
      </p:sp>
      <p:sp>
        <p:nvSpPr>
          <p:cNvPr id="13" name="Shape 10"/>
          <p:cNvSpPr/>
          <p:nvPr/>
        </p:nvSpPr>
        <p:spPr>
          <a:xfrm>
            <a:off x="6309360" y="2560320"/>
            <a:ext cx="5440680" cy="182880"/>
          </a:xfrm>
          <a:prstGeom prst="rect">
            <a:avLst/>
          </a:prstGeom>
          <a:solidFill>
            <a:srgbClr val="A9863D"/>
          </a:solidFill>
          <a:ln/>
        </p:spPr>
      </p:sp>
      <p:sp>
        <p:nvSpPr>
          <p:cNvPr id="14" name="Shape 11"/>
          <p:cNvSpPr/>
          <p:nvPr/>
        </p:nvSpPr>
        <p:spPr>
          <a:xfrm>
            <a:off x="6583680" y="2011680"/>
            <a:ext cx="548640" cy="548640"/>
          </a:xfrm>
          <a:prstGeom prst="ellipse">
            <a:avLst/>
          </a:prstGeom>
          <a:solidFill>
            <a:srgbClr val="C8A45C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299" y="2165299"/>
            <a:ext cx="241402" cy="24140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69480" y="192024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audit-extend-suggestions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3E5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对策建议的三道核查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766560" y="301752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防重：查建议是否已有现行政策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补深：把浅建议推到可操作层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找空白：补上遗漏的关键维度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548640" y="5120640"/>
            <a:ext cx="11201400" cy="658368"/>
          </a:xfrm>
          <a:prstGeom prst="roundRect">
            <a:avLst>
              <a:gd name="adj" fmla="val 13889"/>
            </a:avLst>
          </a:prstGeom>
          <a:solidFill>
            <a:srgbClr val="F7F0E2"/>
          </a:solidFill>
          <a:ln w="12700">
            <a:solidFill>
              <a:srgbClr val="C8A45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68680" y="5120640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8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  </a:t>
            </a:r>
            <a:pPr indent="0" marL="0">
              <a:buNone/>
            </a:pPr>
            <a:r>
              <a:rPr lang="en-US" sz="1300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引擎自审在</a:t>
            </a:r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体内</a:t>
            </a:r>
            <a:pPr indent="0" marL="0">
              <a:buNone/>
            </a:pPr>
            <a:r>
              <a:rPr lang="en-US" sz="1300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，教科院 skill 这一层在</a:t>
            </a:r>
            <a:pPr indent="0" marL="0">
              <a:buNone/>
            </a:pPr>
            <a:r>
              <a:rPr lang="en-US" sz="1300" b="1" dirty="0">
                <a:solidFill>
                  <a:srgbClr val="A98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体外</a:t>
            </a:r>
            <a:pPr indent="0" marL="0">
              <a:buNone/>
            </a:pPr>
            <a:r>
              <a:rPr lang="en-US" sz="1300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做人味精修——两道关叠加。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政策报告智能写作工作流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A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 ① · 旗舰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《人工智能+教育国际政策比较报告》 三审汇总修订版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4754880"/>
          </a:xfrm>
          <a:prstGeom prst="roundRect">
            <a:avLst>
              <a:gd name="adj" fmla="val 10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pic>
        <p:nvPicPr>
          <p:cNvPr id="5" name="Image 0" descr="shots/flagship-1.jpg">    </p:cNvPr>
          <p:cNvPicPr>
            <a:picLocks noChangeAspect="1"/>
          </p:cNvPicPr>
          <p:nvPr/>
        </p:nvPicPr>
        <p:blipFill>
          <a:blip r:embed="rId1"/>
          <a:srcRect l="0" r="0" t="-3873" b="-3873"/>
          <a:stretch/>
        </p:blipFill>
        <p:spPr>
          <a:xfrm>
            <a:off x="777240" y="1847088"/>
            <a:ext cx="3246120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1722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docx 首页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572000" y="1737360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1F3A5F"/>
          </a:solidFill>
          <a:ln/>
        </p:spPr>
      </p:sp>
      <p:sp>
        <p:nvSpPr>
          <p:cNvPr id="8" name="Text 5"/>
          <p:cNvSpPr/>
          <p:nvPr/>
        </p:nvSpPr>
        <p:spPr>
          <a:xfrm>
            <a:off x="4846320" y="17373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A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9,100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字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138160" y="1737360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C8A45C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0" y="17373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</a:t>
            </a:r>
            <a:pPr indent="0" marL="0">
              <a:buNone/>
            </a:pPr>
            <a:r>
              <a:rPr lang="en-US" sz="1500" b="1" dirty="0">
                <a:solidFill>
                  <a:srgbClr val="14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种治理类型</a:t>
            </a:r>
            <a:endParaRPr lang="en-US" sz="3400" dirty="0"/>
          </a:p>
        </p:txBody>
      </p:sp>
      <p:sp>
        <p:nvSpPr>
          <p:cNvPr id="11" name="Shape 8"/>
          <p:cNvSpPr/>
          <p:nvPr/>
        </p:nvSpPr>
        <p:spPr>
          <a:xfrm>
            <a:off x="4572000" y="3063240"/>
            <a:ext cx="69494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3236976"/>
            <a:ext cx="402336" cy="402336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3" name="Text 10"/>
          <p:cNvSpPr/>
          <p:nvPr/>
        </p:nvSpPr>
        <p:spPr>
          <a:xfrm>
            <a:off x="4754880" y="3236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A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303520" y="3063240"/>
            <a:ext cx="6126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专综并进型   </a:t>
            </a:r>
            <a:pPr indent="0" marL="0">
              <a:buNone/>
            </a:pPr>
            <a:r>
              <a:rPr lang="en-US" sz="120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既嵌国家AI总战略，又出教育AI专项文件（美、澳）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572000" y="3922776"/>
            <a:ext cx="6949440" cy="749808"/>
          </a:xfrm>
          <a:prstGeom prst="roundRect">
            <a:avLst>
              <a:gd name="adj" fmla="val 9756"/>
            </a:avLst>
          </a:prstGeom>
          <a:solidFill>
            <a:srgbClr val="EAF0F6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54880" y="4096512"/>
            <a:ext cx="402336" cy="402336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7" name="Text 14"/>
          <p:cNvSpPr/>
          <p:nvPr/>
        </p:nvSpPr>
        <p:spPr>
          <a:xfrm>
            <a:off x="4754880" y="4096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A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03520" y="3922776"/>
            <a:ext cx="6126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总体嵌入型   </a:t>
            </a:r>
            <a:pPr indent="0" marL="0">
              <a:buNone/>
            </a:pPr>
            <a:r>
              <a:rPr lang="en-US" sz="120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不单出专项，把教育作核心支柱嵌入总战略（欧盟）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572000" y="4782312"/>
            <a:ext cx="69494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754880" y="4956048"/>
            <a:ext cx="402336" cy="402336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0" y="4956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A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303520" y="4782312"/>
            <a:ext cx="6126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专项引领型   </a:t>
            </a:r>
            <a:pPr indent="0" marL="0">
              <a:buNone/>
            </a:pPr>
            <a:r>
              <a:rPr lang="en-US" sz="120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以教育AI专项文件先行牵引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4572000" y="5650992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7F0E2"/>
          </a:solidFill>
          <a:ln w="12700">
            <a:solidFill>
              <a:srgbClr val="C8A45C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5870448"/>
            <a:ext cx="329184" cy="32918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303520" y="5650992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98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亮点：归纳出三种治理类型 · 课题组署名 · 完整内参体例 · 经三审汇总修订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政策报告智能写作工作流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A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 ② · 审核优化前后对比 ★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教科院 skill 到底改了什么 —— 《美国AI人才战略布局及我国应对策略》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825496" cy="3474720"/>
          </a:xfrm>
          <a:prstGeom prst="roundRect">
            <a:avLst>
              <a:gd name="adj" fmla="val 1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pic>
        <p:nvPicPr>
          <p:cNvPr id="5" name="Image 0" descr="shots/before-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801368"/>
            <a:ext cx="260604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73352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6A7683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6733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修订前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74720" y="3291840"/>
            <a:ext cx="502920" cy="0"/>
          </a:xfrm>
          <a:prstGeom prst="line">
            <a:avLst/>
          </a:prstGeom>
          <a:noFill/>
          <a:ln w="50800">
            <a:solidFill>
              <a:srgbClr val="C8A45C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114800" y="1691640"/>
            <a:ext cx="2825496" cy="3474720"/>
          </a:xfrm>
          <a:prstGeom prst="roundRect">
            <a:avLst>
              <a:gd name="adj" fmla="val 1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pic>
        <p:nvPicPr>
          <p:cNvPr id="10" name="Image 1" descr="shots/after-1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24528" y="1801368"/>
            <a:ext cx="2606040" cy="32004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114800" y="1673352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1F3A5F"/>
          </a:solidFill>
          <a:ln/>
        </p:spPr>
      </p:sp>
      <p:sp>
        <p:nvSpPr>
          <p:cNvPr id="12" name="Text 8"/>
          <p:cNvSpPr/>
          <p:nvPr/>
        </p:nvSpPr>
        <p:spPr>
          <a:xfrm>
            <a:off x="4114800" y="16733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A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教科院修订版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720840" y="16459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改了三处，价值在'内参味'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720840" y="2148840"/>
            <a:ext cx="48920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922008" y="2459736"/>
            <a:ext cx="438912" cy="438912"/>
          </a:xfrm>
          <a:prstGeom prst="ellipse">
            <a:avLst/>
          </a:prstGeom>
          <a:solidFill>
            <a:srgbClr val="C8A45C"/>
          </a:solidFill>
          <a:ln/>
        </p:spPr>
      </p:sp>
      <p:sp>
        <p:nvSpPr>
          <p:cNvPr id="16" name="Text 12"/>
          <p:cNvSpPr/>
          <p:nvPr/>
        </p:nvSpPr>
        <p:spPr>
          <a:xfrm>
            <a:off x="6922008" y="24597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543800" y="2148840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加署名
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补上「人工智能人才战略研究课题组」，落成课题组成果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6720840" y="3319272"/>
            <a:ext cx="4892040" cy="1051560"/>
          </a:xfrm>
          <a:prstGeom prst="roundRect">
            <a:avLst>
              <a:gd name="adj" fmla="val 7826"/>
            </a:avLst>
          </a:prstGeom>
          <a:solidFill>
            <a:srgbClr val="F7F0E2"/>
          </a:solidFill>
          <a:ln w="15875">
            <a:solidFill>
              <a:srgbClr val="C8A45C"/>
            </a:solidFill>
            <a:prstDash val="solid"/>
          </a:ln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922008" y="3630168"/>
            <a:ext cx="438912" cy="438912"/>
          </a:xfrm>
          <a:prstGeom prst="ellipse">
            <a:avLst/>
          </a:prstGeom>
          <a:solidFill>
            <a:srgbClr val="C8A45C"/>
          </a:solidFill>
          <a:ln/>
        </p:spPr>
      </p:sp>
      <p:sp>
        <p:nvSpPr>
          <p:cNvPr id="20" name="Text 16"/>
          <p:cNvSpPr/>
          <p:nvPr/>
        </p:nvSpPr>
        <p:spPr>
          <a:xfrm>
            <a:off x="6922008" y="3630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7543800" y="3319272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措辞书面化
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口语化表述 → 收束为「将使中方陷入‘两难境地’」的书面判断</a:t>
            </a:r>
            <a:endParaRPr lang="en-US" sz="1450" dirty="0"/>
          </a:p>
        </p:txBody>
      </p:sp>
      <p:sp>
        <p:nvSpPr>
          <p:cNvPr id="22" name="Shape 18"/>
          <p:cNvSpPr/>
          <p:nvPr/>
        </p:nvSpPr>
        <p:spPr>
          <a:xfrm>
            <a:off x="6720840" y="4489704"/>
            <a:ext cx="48920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922008" y="4800600"/>
            <a:ext cx="438912" cy="438912"/>
          </a:xfrm>
          <a:prstGeom prst="ellipse">
            <a:avLst/>
          </a:prstGeom>
          <a:solidFill>
            <a:srgbClr val="C8A45C"/>
          </a:solidFill>
          <a:ln/>
        </p:spPr>
      </p:sp>
      <p:sp>
        <p:nvSpPr>
          <p:cNvPr id="24" name="Text 20"/>
          <p:cNvSpPr/>
          <p:nvPr/>
        </p:nvSpPr>
        <p:spPr>
          <a:xfrm>
            <a:off x="6922008" y="4800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700" dirty="0"/>
          </a:p>
        </p:txBody>
      </p:sp>
      <p:sp>
        <p:nvSpPr>
          <p:cNvPr id="25" name="Text 21"/>
          <p:cNvSpPr/>
          <p:nvPr/>
        </p:nvSpPr>
        <p:spPr>
          <a:xfrm>
            <a:off x="7543800" y="4489704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引述中性化
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把带情绪的转述改为中性、可采信的内参口径</a:t>
            </a:r>
            <a:endParaRPr lang="en-US" sz="1450" dirty="0"/>
          </a:p>
        </p:txBody>
      </p:sp>
      <p:sp>
        <p:nvSpPr>
          <p:cNvPr id="26" name="Text 22"/>
          <p:cNvSpPr/>
          <p:nvPr/>
        </p:nvSpPr>
        <p:spPr>
          <a:xfrm>
            <a:off x="6720840" y="5678424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A98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这一层把'agent 写的初稿'补成'研究员署名的内参'——这页最能说明价值。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政策报告智能写作工作流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A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覆盖面 + 收尾 · 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三体例各有成稿，规模 · 成本 · 成熟度已成型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566160" cy="1536192"/>
          </a:xfrm>
          <a:prstGeom prst="roundRect">
            <a:avLst>
              <a:gd name="adj" fmla="val 5357"/>
            </a:avLst>
          </a:prstGeom>
          <a:solidFill>
            <a:srgbClr val="2E4E76"/>
          </a:solidFill>
          <a:ln w="12700">
            <a:solidFill>
              <a:srgbClr val="5B7C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92224"/>
            <a:ext cx="530352" cy="530352"/>
          </a:xfrm>
          <a:prstGeom prst="ellipse">
            <a:avLst/>
          </a:prstGeom>
          <a:solidFill>
            <a:srgbClr val="C8A45C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171" y="1940723"/>
            <a:ext cx="233355" cy="2333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1792224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strategic 竞争应对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414016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4E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《美国AI人才战略布局及我国应对策略》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70832" y="1572768"/>
            <a:ext cx="3566160" cy="1536192"/>
          </a:xfrm>
          <a:prstGeom prst="roundRect">
            <a:avLst>
              <a:gd name="adj" fmla="val 5357"/>
            </a:avLst>
          </a:prstGeom>
          <a:solidFill>
            <a:srgbClr val="2E4E76"/>
          </a:solidFill>
          <a:ln w="12700">
            <a:solidFill>
              <a:srgbClr val="5B7CA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26864" y="1792224"/>
            <a:ext cx="530352" cy="530352"/>
          </a:xfrm>
          <a:prstGeom prst="ellipse">
            <a:avLst/>
          </a:prstGeom>
          <a:solidFill>
            <a:srgbClr val="C8A45C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363" y="1940723"/>
            <a:ext cx="233355" cy="23335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1792224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experience 经验借鉴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645152" y="2414016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4E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《专业化优先·美英德澳体育教师经验及我国借鉴》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93024" y="1572768"/>
            <a:ext cx="3566160" cy="1536192"/>
          </a:xfrm>
          <a:prstGeom prst="roundRect">
            <a:avLst>
              <a:gd name="adj" fmla="val 5357"/>
            </a:avLst>
          </a:prstGeom>
          <a:solidFill>
            <a:srgbClr val="2E4E76"/>
          </a:solidFill>
          <a:ln w="12700">
            <a:solidFill>
              <a:srgbClr val="5B7CA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49056" y="1792224"/>
            <a:ext cx="530352" cy="530352"/>
          </a:xfrm>
          <a:prstGeom prst="ellipse">
            <a:avLst/>
          </a:prstGeom>
          <a:solidFill>
            <a:srgbClr val="C8A45C"/>
          </a:solidFill>
          <a:ln/>
          <a:effectLst>
            <a:outerShdw sx="100000" sy="100000" kx="0" ky="0" algn="bl" rotWithShape="0" blurRad="76200" dist="25400" dir="5400000">
              <a:srgbClr val="1A2A3A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7555" y="1940723"/>
            <a:ext cx="233355" cy="23335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25712" y="1792224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trend 趋势研判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467344" y="2414016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4E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《国际终身教育趋势与中国对策分析》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310128"/>
            <a:ext cx="11091672" cy="1024128"/>
          </a:xfrm>
          <a:prstGeom prst="roundRect">
            <a:avLst>
              <a:gd name="adj" fmla="val 8929"/>
            </a:avLst>
          </a:prstGeom>
          <a:solidFill>
            <a:srgbClr val="C8A45C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914400" y="3310128"/>
            <a:ext cx="2834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</a:t>
            </a:r>
            <a:pPr algn="l" indent="0" marL="0">
              <a:buNone/>
            </a:pPr>
            <a:r>
              <a:rPr lang="en-US" sz="5200" b="1" dirty="0">
                <a:solidFill>
                  <a:srgbClr val="14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1.56</a:t>
            </a:r>
            <a:endParaRPr lang="en-US" sz="2600" dirty="0"/>
          </a:p>
        </p:txBody>
      </p:sp>
      <p:sp>
        <p:nvSpPr>
          <p:cNvPr id="21" name="Shape 16"/>
          <p:cNvSpPr/>
          <p:nvPr/>
        </p:nvSpPr>
        <p:spPr>
          <a:xfrm>
            <a:off x="3794760" y="3511296"/>
            <a:ext cx="0" cy="621792"/>
          </a:xfrm>
          <a:prstGeom prst="line">
            <a:avLst/>
          </a:prstGeom>
          <a:noFill/>
          <a:ln w="19050">
            <a:solidFill>
              <a:srgbClr val="142838">
                <a:alpha val="4500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023360" y="3310128"/>
            <a:ext cx="7315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14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成本低到惊人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月用「通用智能体 + 封装 agent 工作流」写 3 篇文章，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14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全流程仅消耗 ¥1.56（仅计工作流费用）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548640" y="4553712"/>
            <a:ext cx="3566160" cy="841248"/>
          </a:xfrm>
          <a:prstGeom prst="roundRect">
            <a:avLst>
              <a:gd name="adj" fmla="val 9783"/>
            </a:avLst>
          </a:prstGeom>
          <a:solidFill>
            <a:srgbClr val="2E4E76"/>
          </a:solidFill>
          <a:ln/>
        </p:spPr>
      </p:sp>
      <p:sp>
        <p:nvSpPr>
          <p:cNvPr id="24" name="Text 19"/>
          <p:cNvSpPr/>
          <p:nvPr/>
        </p:nvSpPr>
        <p:spPr>
          <a:xfrm>
            <a:off x="822960" y="457200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A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97</a:t>
            </a:r>
            <a:endParaRPr lang="en-US" sz="3200" dirty="0"/>
          </a:p>
        </p:txBody>
      </p:sp>
      <p:sp>
        <p:nvSpPr>
          <p:cNvPr id="25" name="Text 20"/>
          <p:cNvSpPr/>
          <p:nvPr/>
        </p:nvSpPr>
        <p:spPr>
          <a:xfrm>
            <a:off x="1828800" y="4553712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次运行
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FB4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 20 + 战略 77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4370832" y="4553712"/>
            <a:ext cx="3566160" cy="841248"/>
          </a:xfrm>
          <a:prstGeom prst="roundRect">
            <a:avLst>
              <a:gd name="adj" fmla="val 9783"/>
            </a:avLst>
          </a:prstGeom>
          <a:solidFill>
            <a:srgbClr val="2E4E76"/>
          </a:solidFill>
          <a:ln/>
        </p:spPr>
      </p:sp>
      <p:sp>
        <p:nvSpPr>
          <p:cNvPr id="27" name="Text 22"/>
          <p:cNvSpPr/>
          <p:nvPr/>
        </p:nvSpPr>
        <p:spPr>
          <a:xfrm>
            <a:off x="4645152" y="457200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A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200" dirty="0"/>
          </a:p>
        </p:txBody>
      </p:sp>
      <p:sp>
        <p:nvSpPr>
          <p:cNvPr id="28" name="Text 23"/>
          <p:cNvSpPr/>
          <p:nvPr/>
        </p:nvSpPr>
        <p:spPr>
          <a:xfrm>
            <a:off x="5650992" y="4553712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套文档
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FB4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初始化/使用/驱动/移植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8193024" y="4553712"/>
            <a:ext cx="3566160" cy="841248"/>
          </a:xfrm>
          <a:prstGeom prst="roundRect">
            <a:avLst>
              <a:gd name="adj" fmla="val 9783"/>
            </a:avLst>
          </a:prstGeom>
          <a:solidFill>
            <a:srgbClr val="2E4E76"/>
          </a:solidFill>
          <a:ln/>
        </p:spPr>
      </p:sp>
      <p:sp>
        <p:nvSpPr>
          <p:cNvPr id="30" name="Text 25"/>
          <p:cNvSpPr/>
          <p:nvPr/>
        </p:nvSpPr>
        <p:spPr>
          <a:xfrm>
            <a:off x="8467344" y="457200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A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</a:t>
            </a:r>
            <a:endParaRPr lang="en-US" sz="2000" dirty="0"/>
          </a:p>
        </p:txBody>
      </p:sp>
      <p:sp>
        <p:nvSpPr>
          <p:cNvPr id="31" name="Text 26"/>
          <p:cNvSpPr/>
          <p:nvPr/>
        </p:nvSpPr>
        <p:spPr>
          <a:xfrm>
            <a:off x="9976104" y="4553712"/>
            <a:ext cx="1691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跨平台
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FB4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移植包已就绪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548640" y="5596128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1F3A5F"/>
          </a:solidFill>
          <a:ln/>
        </p:spPr>
      </p:sp>
      <p:sp>
        <p:nvSpPr>
          <p:cNvPr id="33" name="Text 28"/>
          <p:cNvSpPr/>
          <p:nvPr/>
        </p:nvSpPr>
        <p:spPr>
          <a:xfrm>
            <a:off x="868680" y="5596128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60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5888736"/>
            <a:ext cx="256032" cy="25603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2816352" y="5596128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部署上线</a:t>
            </a:r>
            <a:endParaRPr lang="en-US" sz="13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5888736"/>
            <a:ext cx="256032" cy="25603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833872" y="5596128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扩更多体例</a:t>
            </a:r>
            <a:endParaRPr lang="en-US" sz="130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5888736"/>
            <a:ext cx="256032" cy="25603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851392" y="5596128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材料源接入更多渠道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政策报告智能写作工作流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政策报告智能写作工作流 · 汇报</dc:title>
  <dc:subject>PptxGenJS Presentation</dc:subject>
  <dc:creator>政策报告智能写作工作流</dc:creator>
  <cp:lastModifiedBy>政策报告智能写作工作流</cp:lastModifiedBy>
  <cp:revision>1</cp:revision>
  <dcterms:created xsi:type="dcterms:W3CDTF">2026-07-02T06:39:45Z</dcterms:created>
  <dcterms:modified xsi:type="dcterms:W3CDTF">2026-07-02T06:39:45Z</dcterms:modified>
</cp:coreProperties>
</file>